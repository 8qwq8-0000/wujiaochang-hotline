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我们的项目叫《五角场热线》，是一款以上海杨浦五角场为舞台的俯视角搜打撤肉鸽动作游戏。三位成员是沈宝硕、杨家耀和张文华。视觉上采用原创的霓虹黑色、录像带故障和五角机械面具，不直接使用任何现成游戏素材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项目首先面向喜欢高速清场、反复挑战和配装组合的动作游戏玩家。首发平台是 Windows，使用键盘和鼠标，每局控制在十五到二十分钟。体验重心明确：六成是战斗手感，三成是组件构筑，一成用于建立五角场夜间楼宇的氛围。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背景设定在铁人叛乱后的虚构五角场。机器人帮派占据楼宇，玩家作为改造人清缴员进入其中。每局的目标链很清楚：回收机体组件、解救人质，最后关闭屋顶控制核心。世界观只作为玩法支撑，通过任务简报、环境文字和短 NPC 对话呈现。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局从基地整备开始，进入随机抽取的楼层后先高速清场，再从敌人、尸体、无人机和清场奖励中搜集组件。清场后才能打开背包并调整配装。到达电梯时，玩家要决定立即撤离，把物品带回仓库，还是继续登楼，承担更高风险换取更好的掉落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战斗核心是没有冷却的格挡，但它不是无限安全。格挡有前摇、完美窗口、普通窗口和后摇，连续乱按会暴露破绽。完美格挡可以反弹子弹、让近战敌人重硬直，并降低武器热量。我们会用短暂停顿、白闪、金属撞击、镜头震动和音高递增把反馈做足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玩家有武器、机动和天赋核心三个固定槽位，另有六格背包存放备用组件，只能在安全状态整理。两个同槽同品质组件可以合成升级，并继承更高的同名词条。黑匣是关键取舍：默认装断路保险保命，也可以取出保险，把一件普通组件安全带回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地图采用单层无缝、楼层间电梯切换。完整目标是四个普通楼层，每层两个主要战斗区，但房间从少量模板中抽取组合，从而控制工作量。敌人、障碍、配电箱、可破坏尸体、窗口无人机和人质位置随机变化，楼层越高，高品质掉落权重越高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项目的五个亮点分别对应五类体验：完美格挡把防守变成进攻；备用组件支持因地换装；评级只提供额外奖励，不给低评级惩罚；配电箱、门、无人机和尸体形成场景连携；解救人质后，基地会逐步开放新功能。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周首版不追求把所有设想一次做完。十月十三到十八日先完成移动、攻击、格挡、一种敌人和一个灰盒区域；十九到二十六日串起基地、单层两战区和撤离结算，并加入两种敌人、简化背包、黑匣和存档。十月二十七日交付 Windows 可执行版本。沈宝硕负责玩家战斗，杨家耀负责敌人与数据系统，张文华负责场景和关卡整合，美术音效随各自模块分摊。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我们要在十月二十七日先证明一件事：这套战斗、搜集、配装和撤离的循环是完整而且好玩的。完整四层、Boss 和最终美术放到后续版本继续扩展。以上就是《五角场热线》，谢谢大家，欢迎提问。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ujiaochang_cover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6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art"/>
          <p:cNvPicPr>
            <a:picLocks noChangeAspect="1"/>
          </p:cNvPicPr>
          <p:nvPr/>
        </p:nvPicPr>
        <p:blipFill>
          <a:blip r:embed="rId1"/>
          <a:srcRect t="332" b="3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left-title-scrim"/>
          <p:cNvSpPr/>
          <p:nvPr/>
        </p:nvSpPr>
        <p:spPr>
          <a:xfrm>
            <a:off x="0" y="0"/>
            <a:ext cx="7524750" cy="6858000"/>
          </a:xfrm>
          <a:prstGeom prst="rect">
            <a:avLst/>
          </a:prstGeom>
          <a:gradFill>
            <a:gsLst>
              <a:gs pos="0">
                <a:schemeClr val="lt1">
                  <a:alpha val="98000"/>
                </a:schemeClr>
              </a:gs>
              <a:gs pos="42000">
                <a:schemeClr val="lt1">
                  <a:alpha val="90000"/>
                </a:schemeClr>
              </a:gs>
              <a:gs pos="65000">
                <a:schemeClr val="lt1">
                  <a:alpha val="38000"/>
                </a:schemeClr>
              </a:gs>
              <a:gs pos="100000">
                <a:schemeClr val="lt1">
                  <a:alpha val="0"/>
                </a:schemeClr>
              </a:gs>
            </a:gsLst>
            <a:lin ang="0" scaled="1"/>
          </a:gradFill>
          <a:ln>
            <a:noFill/>
          </a:ln>
        </p:spPr>
      </p:sp>
      <p:sp>
        <p:nvSpPr>
          <p:cNvPr id="4" name="lower-scrim"/>
          <p:cNvSpPr/>
          <p:nvPr/>
        </p:nvSpPr>
        <p:spPr>
          <a:xfrm>
            <a:off x="0" y="4762500"/>
            <a:ext cx="12192000" cy="2095500"/>
          </a:xfrm>
          <a:prstGeom prst="rect">
            <a:avLst/>
          </a:prstGeom>
          <a:gradFill>
            <a:gsLst>
              <a:gs pos="0">
                <a:schemeClr val="lt1">
                  <a:alpha val="0"/>
                </a:schemeClr>
              </a:gs>
              <a:gs pos="100000">
                <a:schemeClr val="lt1">
                  <a:alpha val="8800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18" name="vhs-chrome"/>
          <p:cNvGrpSpPr/>
          <p:nvPr/>
        </p:nvGrpSpPr>
        <p:grpSpPr>
          <a:xfrm>
            <a:off x="0" y="304800"/>
            <a:ext cx="12192000" cy="6248400"/>
            <a:chOff x="0" y="304800"/>
            <a:chExt cx="12192000" cy="6248400"/>
          </a:xfrm>
        </p:grpSpPr>
        <p:grpSp>
          <p:nvGrpSpPr>
            <p:cNvPr id="9" name="Group 9"/>
            <p:cNvGrpSpPr/>
            <p:nvPr/>
          </p:nvGrpSpPr>
          <p:grpSpPr>
            <a:xfrm>
              <a:off x="304800" y="304800"/>
              <a:ext cx="11582400" cy="6248400"/>
              <a:chOff x="304800" y="304800"/>
              <a:chExt cx="11582400" cy="6248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304800" y="304800"/>
                <a:ext cx="5715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419100">
                    <a:moveTo>
                      <a:pt x="0" y="419100"/>
                    </a:moveTo>
                    <a:lnTo>
                      <a:pt x="0" y="0"/>
                    </a:lnTo>
                    <a:lnTo>
                      <a:pt x="571500" y="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70000"/>
                  </a:schemeClr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1315700" y="304800"/>
                <a:ext cx="5715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419100">
                    <a:moveTo>
                      <a:pt x="0" y="0"/>
                    </a:moveTo>
                    <a:lnTo>
                      <a:pt x="571500" y="0"/>
                    </a:lnTo>
                    <a:lnTo>
                      <a:pt x="571500" y="41910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70000"/>
                  </a:schemeClr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304800" y="6134100"/>
                <a:ext cx="5715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419100">
                    <a:moveTo>
                      <a:pt x="0" y="0"/>
                    </a:moveTo>
                    <a:lnTo>
                      <a:pt x="0" y="419100"/>
                    </a:lnTo>
                    <a:lnTo>
                      <a:pt x="571500" y="41910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70000"/>
                  </a:schemeClr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315700" y="6134100"/>
                <a:ext cx="5715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419100">
                    <a:moveTo>
                      <a:pt x="0" y="419100"/>
                    </a:moveTo>
                    <a:lnTo>
                      <a:pt x="571500" y="419100"/>
                    </a:lnTo>
                    <a:lnTo>
                      <a:pt x="571500" y="0"/>
                    </a:lnTo>
                  </a:path>
                </a:pathLst>
              </a:custGeom>
              <a:noFill/>
              <a:ln w="19050">
                <a:solidFill>
                  <a:schemeClr val="accent2">
                    <a:alpha val="70000"/>
                  </a:schemeClr>
                </a:solidFill>
              </a:ln>
            </p:spPr>
          </p:sp>
        </p:grpSp>
        <p:sp>
          <p:nvSpPr>
            <p:cNvPr id="10" name="Freeform 10"/>
            <p:cNvSpPr/>
            <p:nvPr/>
          </p:nvSpPr>
          <p:spPr>
            <a:xfrm>
              <a:off x="0" y="914400"/>
              <a:ext cx="12192000" cy="5334000"/>
            </a:xfrm>
            <a:custGeom>
              <a:avLst/>
              <a:gdLst/>
              <a:ahLst/>
              <a:cxnLst/>
              <a:rect l="l" t="t" r="r" b="b"/>
              <a:pathLst>
                <a:path w="12192000" h="5334000">
                  <a:moveTo>
                    <a:pt x="0" y="0"/>
                  </a:moveTo>
                  <a:lnTo>
                    <a:pt x="12192000" y="0"/>
                  </a:lnTo>
                  <a:moveTo>
                    <a:pt x="0" y="533400"/>
                  </a:moveTo>
                  <a:lnTo>
                    <a:pt x="12192000" y="533400"/>
                  </a:lnTo>
                  <a:moveTo>
                    <a:pt x="0" y="1066800"/>
                  </a:moveTo>
                  <a:lnTo>
                    <a:pt x="12192000" y="1066800"/>
                  </a:lnTo>
                  <a:moveTo>
                    <a:pt x="0" y="1600200"/>
                  </a:moveTo>
                  <a:lnTo>
                    <a:pt x="12192000" y="1600200"/>
                  </a:lnTo>
                  <a:moveTo>
                    <a:pt x="0" y="2133600"/>
                  </a:moveTo>
                  <a:lnTo>
                    <a:pt x="12192000" y="2133600"/>
                  </a:lnTo>
                  <a:moveTo>
                    <a:pt x="0" y="2667000"/>
                  </a:moveTo>
                  <a:lnTo>
                    <a:pt x="12192000" y="2667000"/>
                  </a:lnTo>
                  <a:moveTo>
                    <a:pt x="0" y="3200400"/>
                  </a:moveTo>
                  <a:lnTo>
                    <a:pt x="12192000" y="3200400"/>
                  </a:lnTo>
                  <a:moveTo>
                    <a:pt x="0" y="3733800"/>
                  </a:moveTo>
                  <a:lnTo>
                    <a:pt x="12192000" y="3733800"/>
                  </a:lnTo>
                  <a:moveTo>
                    <a:pt x="0" y="4267200"/>
                  </a:moveTo>
                  <a:lnTo>
                    <a:pt x="12192000" y="4267200"/>
                  </a:lnTo>
                  <a:moveTo>
                    <a:pt x="0" y="4800600"/>
                  </a:moveTo>
                  <a:lnTo>
                    <a:pt x="12192000" y="4800600"/>
                  </a:lnTo>
                  <a:moveTo>
                    <a:pt x="0" y="5334000"/>
                  </a:moveTo>
                  <a:lnTo>
                    <a:pt x="12192000" y="5334000"/>
                  </a:lnTo>
                </a:path>
              </a:pathLst>
            </a:custGeom>
            <a:noFill/>
            <a:ln w="9525">
              <a:solidFill>
                <a:schemeClr val="dk1">
                  <a:alpha val="6000"/>
                </a:schemeClr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0877550" y="495300"/>
              <a:ext cx="152400" cy="152400"/>
            </a:xfrm>
            <a:prstGeom prst="ellipse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157204" y="476250"/>
              <a:ext cx="354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REC</a:t>
              </a:r>
              <a:endParaRPr lang="en-US" sz="1200" b="1" spc="150" dirty="0">
                <a:solidFill>
                  <a:schemeClr val="dk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13385" y="488950"/>
              <a:ext cx="678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PLAY ▶</a:t>
              </a:r>
              <a:endParaRPr lang="en-US" sz="1120" spc="1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71735" y="6318250"/>
              <a:ext cx="10842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spc="75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00:00:13:27</a:t>
              </a:r>
              <a:endParaRPr lang="zh-CN" sz="1120" spc="75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905750" y="495300"/>
              <a:ext cx="742950" cy="38100"/>
            </a:xfrm>
            <a:prstGeom prst="rect">
              <a:avLst/>
            </a:prstGeom>
            <a:solidFill>
              <a:schemeClr val="accent1">
                <a:alpha val="72000"/>
              </a:scheme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724900" y="495300"/>
              <a:ext cx="323850" cy="38100"/>
            </a:xfrm>
            <a:prstGeom prst="rect">
              <a:avLst/>
            </a:prstGeom>
            <a:solidFill>
              <a:schemeClr val="accent2">
                <a:alpha val="72000"/>
              </a:scheme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9124950" y="495300"/>
              <a:ext cx="133350" cy="38100"/>
            </a:xfrm>
            <a:prstGeom prst="rect">
              <a:avLst/>
            </a:prstGeom>
            <a:solidFill>
              <a:schemeClr val="accent3">
                <a:alpha val="72000"/>
              </a:schemeClr>
            </a:solidFill>
            <a:ln>
              <a:noFill/>
            </a:ln>
          </p:spPr>
        </p:sp>
      </p:grpSp>
      <p:grpSp>
        <p:nvGrpSpPr>
          <p:cNvPr id="35" name="title-lockup"/>
          <p:cNvGrpSpPr/>
          <p:nvPr/>
        </p:nvGrpSpPr>
        <p:grpSpPr>
          <a:xfrm>
            <a:off x="628650" y="1346200"/>
            <a:ext cx="4762500" cy="3065780"/>
            <a:chOff x="628650" y="1346200"/>
            <a:chExt cx="4762500" cy="3065780"/>
          </a:xfrm>
        </p:grpSpPr>
        <p:sp>
          <p:nvSpPr>
            <p:cNvPr id="19" name="TextBox 19"/>
            <p:cNvSpPr txBox="1"/>
            <p:nvPr/>
          </p:nvSpPr>
          <p:spPr>
            <a:xfrm>
              <a:off x="680085" y="1346200"/>
              <a:ext cx="2513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accent3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COURSE PROJECT // 2026</a:t>
              </a:r>
              <a:endParaRPr lang="en-US" sz="1120" b="1" spc="150" dirty="0">
                <a:solidFill>
                  <a:schemeClr val="accent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" y="1657350"/>
              <a:ext cx="876300" cy="47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38300" y="1657350"/>
              <a:ext cx="3429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057400" y="1657350"/>
              <a:ext cx="1714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3900" y="1752600"/>
              <a:ext cx="2824734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chemeClr val="accent2">
                      <a:alphaMod val="48000"/>
                    </a:schemeClr>
                  </a:solidFill>
                  <a:latin typeface="+mj-lt"/>
                  <a:ea typeface="+mj-ea"/>
                  <a:cs typeface="+mj-cs"/>
                </a:rPr>
                <a:t>五角场</a:t>
              </a:r>
              <a:endParaRPr lang="zh-CN" sz="6900" b="1" dirty="0">
                <a:solidFill>
                  <a:schemeClr val="accent2">
                    <a:alphaMod val="48000"/>
                  </a:scheme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8650" y="1695450"/>
              <a:ext cx="2824734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chemeClr val="accent1">
                      <a:alphaMod val="62000"/>
                    </a:schemeClr>
                  </a:solidFill>
                  <a:latin typeface="+mj-lt"/>
                  <a:ea typeface="+mj-ea"/>
                  <a:cs typeface="+mj-cs"/>
                </a:rPr>
                <a:t>五角场</a:t>
              </a:r>
              <a:endParaRPr lang="zh-CN" sz="6900" b="1" dirty="0">
                <a:solidFill>
                  <a:schemeClr val="accent1">
                    <a:alphaMod val="62000"/>
                  </a:scheme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750" y="1714500"/>
              <a:ext cx="2824734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五角场</a:t>
              </a:r>
              <a:endParaRPr lang="zh-CN" sz="69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950" y="2628900"/>
              <a:ext cx="1895856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chemeClr val="accent1">
                      <a:alphaMod val="58000"/>
                    </a:schemeClr>
                  </a:solidFill>
                  <a:latin typeface="+mj-lt"/>
                  <a:ea typeface="+mj-ea"/>
                  <a:cs typeface="+mj-cs"/>
                </a:rPr>
                <a:t>热线</a:t>
              </a:r>
              <a:endParaRPr lang="zh-CN" sz="6900" b="1" dirty="0">
                <a:solidFill>
                  <a:schemeClr val="accent1">
                    <a:alphaMod val="58000"/>
                  </a:scheme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8650" y="2571750"/>
              <a:ext cx="1895856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chemeClr val="accent2">
                      <a:alphaMod val="50000"/>
                    </a:schemeClr>
                  </a:solidFill>
                  <a:latin typeface="+mj-lt"/>
                  <a:ea typeface="+mj-ea"/>
                  <a:cs typeface="+mj-cs"/>
                </a:rPr>
                <a:t>热线</a:t>
              </a:r>
              <a:endParaRPr lang="zh-CN" sz="6900" b="1" dirty="0">
                <a:solidFill>
                  <a:schemeClr val="accent2">
                    <a:alphaMod val="50000"/>
                  </a:scheme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6750" y="2590800"/>
              <a:ext cx="1895856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热线</a:t>
              </a:r>
              <a:endParaRPr lang="zh-CN" sz="69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1896" y="3600450"/>
              <a:ext cx="452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WUJIAOCHANG HOTLINE</a:t>
              </a:r>
              <a:endParaRPr lang="en-US" sz="2550" b="1" spc="225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5800" y="4105275"/>
              <a:ext cx="114300" cy="30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2782" y="4089400"/>
              <a:ext cx="373380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俯视角</a:t>
              </a:r>
              <a:r>
                <a:rPr lang="zh-CN" sz="2100" b="1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搜打撤肉鸽弹反</a:t>
              </a:r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动作游戏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171950" y="1981200"/>
              <a:ext cx="1219200" cy="95250"/>
            </a:xfrm>
            <a:prstGeom prst="rect">
              <a:avLst/>
            </a:prstGeom>
            <a:solidFill>
              <a:schemeClr val="accent1">
                <a:alpha val="72000"/>
              </a:schemeClr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14850" y="2143125"/>
              <a:ext cx="647700" cy="57150"/>
            </a:xfrm>
            <a:prstGeom prst="rect">
              <a:avLst/>
            </a:prstGeom>
            <a:solidFill>
              <a:schemeClr val="accent2">
                <a:alpha val="76000"/>
              </a:scheme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67200" y="3619500"/>
              <a:ext cx="1066800" cy="76200"/>
            </a:xfrm>
            <a:prstGeom prst="rect">
              <a:avLst/>
            </a:prstGeom>
            <a:solidFill>
              <a:schemeClr val="accent6">
                <a:alpha val="64000"/>
              </a:schemeClr>
            </a:solidFill>
            <a:ln>
              <a:noFill/>
            </a:ln>
          </p:spPr>
        </p:sp>
      </p:grpSp>
      <p:grpSp>
        <p:nvGrpSpPr>
          <p:cNvPr id="41" name="team-block"/>
          <p:cNvGrpSpPr/>
          <p:nvPr/>
        </p:nvGrpSpPr>
        <p:grpSpPr>
          <a:xfrm>
            <a:off x="678180" y="5600700"/>
            <a:ext cx="4846320" cy="668020"/>
            <a:chOff x="678180" y="5600700"/>
            <a:chExt cx="4846320" cy="668020"/>
          </a:xfrm>
        </p:grpSpPr>
        <p:sp>
          <p:nvSpPr>
            <p:cNvPr id="36" name="Line 36"/>
            <p:cNvSpPr/>
            <p:nvPr/>
          </p:nvSpPr>
          <p:spPr>
            <a:xfrm>
              <a:off x="685800" y="5600700"/>
              <a:ext cx="4743450" cy="9525"/>
            </a:xfrm>
            <a:custGeom>
              <a:avLst/>
              <a:gdLst/>
              <a:ahLst/>
              <a:cxnLst/>
              <a:rect l="l" t="t" r="r" b="b"/>
              <a:pathLst>
                <a:path w="4743450" h="9525">
                  <a:moveTo>
                    <a:pt x="0" y="0"/>
                  </a:moveTo>
                  <a:lnTo>
                    <a:pt x="4743450" y="0"/>
                  </a:lnTo>
                </a:path>
              </a:pathLst>
            </a:custGeom>
            <a:noFill/>
            <a:ln w="19050">
              <a:solidFill>
                <a:schemeClr val="accent6">
                  <a:alpha val="76000"/>
                </a:scheme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466" y="5740400"/>
              <a:ext cx="883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75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TEAM / 03</a:t>
              </a:r>
              <a:endParaRPr lang="en-US" sz="1050" spc="75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8180" y="5975350"/>
              <a:ext cx="24593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沈宝硕 / 杨家耀 / 张文华</a:t>
              </a:r>
              <a:endParaRPr lang="zh-CN" sz="1500" b="1" spc="75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953000" y="5791200"/>
              <a:ext cx="342900" cy="57150"/>
            </a:xfrm>
            <a:prstGeom prst="rect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53050" y="5791200"/>
              <a:ext cx="17145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lt1"/>
            </a:gs>
            <a:gs pos="100000">
              <a:schemeClr val="l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hrome"/>
          <p:cNvGrpSpPr/>
          <p:nvPr/>
        </p:nvGrpSpPr>
        <p:grpSpPr>
          <a:xfrm>
            <a:off x="0" y="304800"/>
            <a:ext cx="12192000" cy="6249543"/>
            <a:chOff x="0" y="304800"/>
            <a:chExt cx="12192000" cy="6249543"/>
          </a:xfrm>
        </p:grpSpPr>
        <p:sp>
          <p:nvSpPr>
            <p:cNvPr id="2" name="Freeform 2"/>
            <p:cNvSpPr/>
            <p:nvPr/>
          </p:nvSpPr>
          <p:spPr>
            <a:xfrm>
              <a:off x="323850" y="304800"/>
              <a:ext cx="11544300" cy="6248400"/>
            </a:xfrm>
            <a:custGeom>
              <a:avLst/>
              <a:gdLst/>
              <a:ahLst/>
              <a:cxnLst/>
              <a:rect l="l" t="t" r="r" b="b"/>
              <a:pathLst>
                <a:path w="11544300" h="6248400">
                  <a:moveTo>
                    <a:pt x="0" y="400050"/>
                  </a:moveTo>
                  <a:lnTo>
                    <a:pt x="0" y="0"/>
                  </a:lnTo>
                  <a:lnTo>
                    <a:pt x="552450" y="0"/>
                  </a:lnTo>
                  <a:moveTo>
                    <a:pt x="10991850" y="0"/>
                  </a:moveTo>
                  <a:lnTo>
                    <a:pt x="11544300" y="0"/>
                  </a:lnTo>
                  <a:lnTo>
                    <a:pt x="11544300" y="400050"/>
                  </a:lnTo>
                  <a:moveTo>
                    <a:pt x="0" y="5848350"/>
                  </a:moveTo>
                  <a:lnTo>
                    <a:pt x="0" y="6248400"/>
                  </a:lnTo>
                  <a:lnTo>
                    <a:pt x="552450" y="6248400"/>
                  </a:lnTo>
                  <a:moveTo>
                    <a:pt x="10991850" y="6248400"/>
                  </a:moveTo>
                  <a:lnTo>
                    <a:pt x="11544300" y="6248400"/>
                  </a:lnTo>
                  <a:lnTo>
                    <a:pt x="11544300" y="5848350"/>
                  </a:lnTo>
                </a:path>
              </a:pathLst>
            </a:custGeom>
            <a:noFill/>
            <a:ln w="19050">
              <a:solidFill>
                <a:schemeClr val="accent2">
                  <a:alpha val="65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10810875" y="447675"/>
              <a:ext cx="133350" cy="133350"/>
            </a:xfrm>
            <a:prstGeom prst="ellipse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43285" y="431800"/>
              <a:ext cx="33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REC</a:t>
              </a:r>
              <a:endParaRPr lang="en-US" sz="1120" b="1" spc="150" dirty="0">
                <a:solidFill>
                  <a:schemeClr val="dk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7116" y="444500"/>
              <a:ext cx="1731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02 / POSITIONING</a:t>
              </a:r>
              <a:endParaRPr lang="en-US" sz="1050" spc="1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901047" y="6362700"/>
              <a:ext cx="8603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00:00:36:12</a:t>
              </a:r>
              <a:endParaRPr lang="zh-CN" sz="98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1219200"/>
              <a:ext cx="12192000" cy="4800600"/>
            </a:xfrm>
            <a:custGeom>
              <a:avLst/>
              <a:gdLst/>
              <a:ahLst/>
              <a:cxnLst/>
              <a:rect l="l" t="t" r="r" b="b"/>
              <a:pathLst>
                <a:path w="12192000" h="4800600">
                  <a:moveTo>
                    <a:pt x="0" y="0"/>
                  </a:moveTo>
                  <a:lnTo>
                    <a:pt x="12192000" y="0"/>
                  </a:lnTo>
                  <a:moveTo>
                    <a:pt x="0" y="533400"/>
                  </a:moveTo>
                  <a:lnTo>
                    <a:pt x="12192000" y="533400"/>
                  </a:lnTo>
                  <a:moveTo>
                    <a:pt x="0" y="1066800"/>
                  </a:moveTo>
                  <a:lnTo>
                    <a:pt x="12192000" y="1066800"/>
                  </a:lnTo>
                  <a:moveTo>
                    <a:pt x="0" y="1600200"/>
                  </a:moveTo>
                  <a:lnTo>
                    <a:pt x="12192000" y="1600200"/>
                  </a:lnTo>
                  <a:moveTo>
                    <a:pt x="0" y="2133600"/>
                  </a:moveTo>
                  <a:lnTo>
                    <a:pt x="12192000" y="2133600"/>
                  </a:lnTo>
                  <a:moveTo>
                    <a:pt x="0" y="2667000"/>
                  </a:moveTo>
                  <a:lnTo>
                    <a:pt x="12192000" y="2667000"/>
                  </a:lnTo>
                  <a:moveTo>
                    <a:pt x="0" y="3200400"/>
                  </a:moveTo>
                  <a:lnTo>
                    <a:pt x="12192000" y="3200400"/>
                  </a:lnTo>
                  <a:moveTo>
                    <a:pt x="0" y="3733800"/>
                  </a:moveTo>
                  <a:lnTo>
                    <a:pt x="12192000" y="3733800"/>
                  </a:lnTo>
                  <a:moveTo>
                    <a:pt x="0" y="4267200"/>
                  </a:moveTo>
                  <a:lnTo>
                    <a:pt x="12192000" y="4267200"/>
                  </a:lnTo>
                  <a:moveTo>
                    <a:pt x="0" y="4800600"/>
                  </a:moveTo>
                  <a:lnTo>
                    <a:pt x="12192000" y="4800600"/>
                  </a:lnTo>
                </a:path>
              </a:pathLst>
            </a:custGeom>
            <a:noFill/>
            <a:ln w="9525">
              <a:solidFill>
                <a:schemeClr val="dk1">
                  <a:alpha val="3500"/>
                </a:schemeClr>
              </a:solidFill>
            </a:ln>
          </p:spPr>
        </p:sp>
      </p:grpSp>
      <p:grpSp>
        <p:nvGrpSpPr>
          <p:cNvPr id="13" name="heading"/>
          <p:cNvGrpSpPr/>
          <p:nvPr/>
        </p:nvGrpSpPr>
        <p:grpSpPr>
          <a:xfrm>
            <a:off x="593598" y="971550"/>
            <a:ext cx="10822686" cy="616077"/>
            <a:chOff x="593598" y="971550"/>
            <a:chExt cx="10822686" cy="616077"/>
          </a:xfrm>
        </p:grpSpPr>
        <p:sp>
          <p:nvSpPr>
            <p:cNvPr id="9" name="TextBox 9"/>
            <p:cNvSpPr txBox="1"/>
            <p:nvPr/>
          </p:nvSpPr>
          <p:spPr>
            <a:xfrm>
              <a:off x="593598" y="971550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项目定位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1504950"/>
              <a:ext cx="7810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466850" y="1504950"/>
              <a:ext cx="3238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130089" y="1225550"/>
              <a:ext cx="2286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3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WINDOWS / KEYBOARD + MOUSE</a:t>
              </a:r>
              <a:endParaRPr lang="en-US" sz="1050" dirty="0">
                <a:solidFill>
                  <a:schemeClr val="accent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  <p:grpSp>
        <p:nvGrpSpPr>
          <p:cNvPr id="18" name="duration"/>
          <p:cNvGrpSpPr/>
          <p:nvPr/>
        </p:nvGrpSpPr>
        <p:grpSpPr>
          <a:xfrm>
            <a:off x="647700" y="2019300"/>
            <a:ext cx="3448050" cy="2100707"/>
            <a:chOff x="647700" y="2019300"/>
            <a:chExt cx="3448050" cy="2100707"/>
          </a:xfrm>
        </p:grpSpPr>
        <p:sp>
          <p:nvSpPr>
            <p:cNvPr id="14" name="TextBox 14"/>
            <p:cNvSpPr txBox="1"/>
            <p:nvPr/>
          </p:nvSpPr>
          <p:spPr>
            <a:xfrm>
              <a:off x="647700" y="2019300"/>
              <a:ext cx="2720235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15–20</a:t>
              </a:r>
              <a:endParaRPr lang="zh-CN" sz="6900" b="1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9422" y="3028950"/>
              <a:ext cx="232855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spc="375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MIN / RUN</a:t>
              </a:r>
              <a:endParaRPr lang="en-US" sz="2850" b="1" spc="375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685800" y="3657600"/>
              <a:ext cx="3409950" cy="9525"/>
            </a:xfrm>
            <a:custGeom>
              <a:avLst/>
              <a:gdLst/>
              <a:ahLst/>
              <a:cxnLst/>
              <a:rect l="l" t="t" r="r" b="b"/>
              <a:pathLst>
                <a:path w="3409950" h="9525">
                  <a:moveTo>
                    <a:pt x="0" y="0"/>
                  </a:moveTo>
                  <a:lnTo>
                    <a:pt x="34099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6468" y="3797300"/>
              <a:ext cx="2996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短局制 · 快速重开 · 配装试验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enre-signal"/>
          <p:cNvGrpSpPr/>
          <p:nvPr/>
        </p:nvGrpSpPr>
        <p:grpSpPr>
          <a:xfrm>
            <a:off x="4857750" y="2133600"/>
            <a:ext cx="6534150" cy="1866900"/>
            <a:chOff x="4857750" y="2133600"/>
            <a:chExt cx="6534150" cy="1866900"/>
          </a:xfrm>
        </p:grpSpPr>
        <p:sp>
          <p:nvSpPr>
            <p:cNvPr id="19" name="Polygon 19"/>
            <p:cNvSpPr/>
            <p:nvPr/>
          </p:nvSpPr>
          <p:spPr>
            <a:xfrm>
              <a:off x="4857750" y="2133600"/>
              <a:ext cx="3534410" cy="533400"/>
            </a:xfrm>
            <a:custGeom>
              <a:avLst/>
              <a:gdLst/>
              <a:ahLst/>
              <a:cxnLst/>
              <a:rect l="l" t="t" r="r" b="b"/>
              <a:pathLst>
                <a:path w="3200400" h="533400">
                  <a:moveTo>
                    <a:pt x="0" y="0"/>
                  </a:moveTo>
                  <a:lnTo>
                    <a:pt x="3200400" y="0"/>
                  </a:lnTo>
                  <a:lnTo>
                    <a:pt x="300990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32299" y="2263775"/>
              <a:ext cx="321945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rPr>
                <a:t>俯视角高速动作（</a:t>
              </a:r>
              <a:r>
                <a:rPr lang="zh-CN" sz="195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rPr>
                <a:t>数值平衡）</a:t>
              </a:r>
              <a:endParaRPr lang="zh-CN" sz="1950" b="1" dirty="0">
                <a:solidFill>
                  <a:srgbClr val="0A001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Polygon 21"/>
            <p:cNvSpPr/>
            <p:nvPr/>
          </p:nvSpPr>
          <p:spPr>
            <a:xfrm>
              <a:off x="5334000" y="2800350"/>
              <a:ext cx="5048250" cy="533400"/>
            </a:xfrm>
            <a:custGeom>
              <a:avLst/>
              <a:gdLst/>
              <a:ahLst/>
              <a:cxnLst/>
              <a:rect l="l" t="t" r="r" b="b"/>
              <a:pathLst>
                <a:path w="5048250" h="533400">
                  <a:moveTo>
                    <a:pt x="190500" y="0"/>
                  </a:moveTo>
                  <a:lnTo>
                    <a:pt x="5048250" y="0"/>
                  </a:lnTo>
                  <a:lnTo>
                    <a:pt x="485775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62244" y="2930525"/>
              <a:ext cx="464566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rPr>
                <a:t>肉鸽构筑 · 组件连携（关卡地图</a:t>
              </a:r>
              <a:r>
                <a:rPr lang="zh-CN" sz="195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rPr>
                <a:t>相对随机）</a:t>
              </a:r>
              <a:endParaRPr lang="zh-CN" sz="1950" b="1" dirty="0">
                <a:solidFill>
                  <a:srgbClr val="0A001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Polygon 23"/>
            <p:cNvSpPr/>
            <p:nvPr/>
          </p:nvSpPr>
          <p:spPr>
            <a:xfrm>
              <a:off x="6000750" y="3467100"/>
              <a:ext cx="5391150" cy="533400"/>
            </a:xfrm>
            <a:custGeom>
              <a:avLst/>
              <a:gdLst/>
              <a:ahLst/>
              <a:cxnLst/>
              <a:rect l="l" t="t" r="r" b="b"/>
              <a:pathLst>
                <a:path w="5391150" h="533400">
                  <a:moveTo>
                    <a:pt x="190500" y="0"/>
                  </a:moveTo>
                  <a:lnTo>
                    <a:pt x="5391150" y="0"/>
                  </a:lnTo>
                  <a:lnTo>
                    <a:pt x="5200650" y="5334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28994" y="3597275"/>
              <a:ext cx="390271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rPr>
                <a:t>轻量搜打撤 · 风险决策（</a:t>
              </a:r>
              <a:r>
                <a:rPr lang="zh-CN" sz="195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rPr>
                <a:t>死亡惩罚）</a:t>
              </a:r>
              <a:endParaRPr lang="zh-CN" sz="1950" b="1" dirty="0">
                <a:solidFill>
                  <a:srgbClr val="0A0014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audience"/>
          <p:cNvGrpSpPr/>
          <p:nvPr/>
        </p:nvGrpSpPr>
        <p:grpSpPr>
          <a:xfrm>
            <a:off x="666750" y="4514850"/>
            <a:ext cx="10706100" cy="1352550"/>
            <a:chOff x="666750" y="4514850"/>
            <a:chExt cx="10706100" cy="1352550"/>
          </a:xfrm>
        </p:grpSpPr>
        <p:sp>
          <p:nvSpPr>
            <p:cNvPr id="26" name="Line 26"/>
            <p:cNvSpPr/>
            <p:nvPr/>
          </p:nvSpPr>
          <p:spPr>
            <a:xfrm>
              <a:off x="666750" y="4514850"/>
              <a:ext cx="10706100" cy="9525"/>
            </a:xfrm>
            <a:custGeom>
              <a:avLst/>
              <a:gdLst/>
              <a:ahLst/>
              <a:cxnLst/>
              <a:rect l="l" t="t" r="r" b="b"/>
              <a:pathLst>
                <a:path w="10706100" h="9525">
                  <a:moveTo>
                    <a:pt x="0" y="0"/>
                  </a:moveTo>
                  <a:lnTo>
                    <a:pt x="10706100" y="0"/>
                  </a:lnTo>
                </a:path>
              </a:pathLst>
            </a:custGeom>
            <a:noFill/>
            <a:ln w="19050">
              <a:solidFill>
                <a:schemeClr val="accent6">
                  <a:alpha val="80000"/>
                </a:scheme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0085" y="4775200"/>
              <a:ext cx="12250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TARGET PLAYER</a:t>
              </a:r>
              <a:endParaRPr lang="en-US" sz="112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6656" y="5041900"/>
              <a:ext cx="80010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喜欢</a:t>
              </a:r>
              <a:r>
                <a:rPr lang="zh-CN" sz="1800" b="1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高速清场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，强烈</a:t>
              </a:r>
              <a:r>
                <a:rPr lang="zh-CN" sz="1800" b="1" dirty="0">
                  <a:solidFill>
                    <a:srgbClr val="FF0000"/>
                  </a:solidFill>
                  <a:latin typeface="+mn-lt"/>
                  <a:ea typeface="+mn-ea"/>
                  <a:cs typeface="+mn-cs"/>
                </a:rPr>
                <a:t>弹反反馈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、反复挑战与配装组合与合成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升级的动作游戏玩家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85800" y="5524500"/>
              <a:ext cx="10687050" cy="342900"/>
              <a:chOff x="685800" y="5524500"/>
              <a:chExt cx="10687050" cy="3429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85800" y="5524500"/>
                <a:ext cx="2667000" cy="342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51535" y="5613400"/>
                <a:ext cx="94498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0A0014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COMBAT 60%</a:t>
                </a:r>
                <a:endParaRPr lang="en-US" sz="1120" b="1" dirty="0">
                  <a:solidFill>
                    <a:srgbClr val="0A0014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3505200" y="5524500"/>
                <a:ext cx="2667000" cy="342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670935" y="5613400"/>
                <a:ext cx="851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rgbClr val="0A0014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BUILD 30%</a:t>
                </a:r>
                <a:endParaRPr lang="en-US" sz="1120" b="1" dirty="0">
                  <a:solidFill>
                    <a:srgbClr val="0A0014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324600" y="5524500"/>
                <a:ext cx="2667000" cy="3429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6490335" y="5613400"/>
                <a:ext cx="131839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dk1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ATMOSPHERE 10%</a:t>
                </a:r>
                <a:endParaRPr lang="en-US" sz="1120" b="1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9144000" y="5524500"/>
                <a:ext cx="2228850" cy="342900"/>
              </a:xfrm>
              <a:prstGeom prst="rect">
                <a:avLst/>
              </a:prstGeom>
              <a:solidFill>
                <a:schemeClr val="lt2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309735" y="5613400"/>
                <a:ext cx="103833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b="1" dirty="0">
                    <a:solidFill>
                      <a:schemeClr val="accent3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GODOT 4.7.2</a:t>
                </a:r>
                <a:endParaRPr lang="en-US" sz="1120" b="1" dirty="0">
                  <a:solidFill>
                    <a:schemeClr val="accent3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ission-background"/>
          <p:cNvPicPr>
            <a:picLocks noChangeAspect="1"/>
          </p:cNvPicPr>
          <p:nvPr/>
        </p:nvPicPr>
        <p:blipFill>
          <a:blip r:embed="rId1">
            <a:alphaModFix amt="74000"/>
          </a:blip>
          <a:srcRect t="332" b="3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ission-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55000">
                <a:schemeClr val="lt1">
                  <a:alpha val="94000"/>
                </a:schemeClr>
              </a:gs>
              <a:gs pos="82000">
                <a:schemeClr val="lt1">
                  <a:alpha val="48000"/>
                </a:schemeClr>
              </a:gs>
              <a:gs pos="100000">
                <a:schemeClr val="lt1">
                  <a:alpha val="2000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9" name="chrome"/>
          <p:cNvGrpSpPr/>
          <p:nvPr/>
        </p:nvGrpSpPr>
        <p:grpSpPr>
          <a:xfrm>
            <a:off x="323850" y="304800"/>
            <a:ext cx="11544300" cy="6249543"/>
            <a:chOff x="323850" y="304800"/>
            <a:chExt cx="11544300" cy="6249543"/>
          </a:xfrm>
        </p:grpSpPr>
        <p:sp>
          <p:nvSpPr>
            <p:cNvPr id="4" name="Freeform 4"/>
            <p:cNvSpPr/>
            <p:nvPr/>
          </p:nvSpPr>
          <p:spPr>
            <a:xfrm>
              <a:off x="323850" y="304800"/>
              <a:ext cx="11544300" cy="6248400"/>
            </a:xfrm>
            <a:custGeom>
              <a:avLst/>
              <a:gdLst/>
              <a:ahLst/>
              <a:cxnLst/>
              <a:rect l="l" t="t" r="r" b="b"/>
              <a:pathLst>
                <a:path w="11544300" h="6248400">
                  <a:moveTo>
                    <a:pt x="0" y="400050"/>
                  </a:moveTo>
                  <a:lnTo>
                    <a:pt x="0" y="0"/>
                  </a:lnTo>
                  <a:lnTo>
                    <a:pt x="552450" y="0"/>
                  </a:lnTo>
                  <a:moveTo>
                    <a:pt x="10991850" y="0"/>
                  </a:moveTo>
                  <a:lnTo>
                    <a:pt x="11544300" y="0"/>
                  </a:lnTo>
                  <a:lnTo>
                    <a:pt x="11544300" y="400050"/>
                  </a:lnTo>
                  <a:moveTo>
                    <a:pt x="0" y="5848350"/>
                  </a:moveTo>
                  <a:lnTo>
                    <a:pt x="0" y="6248400"/>
                  </a:lnTo>
                  <a:lnTo>
                    <a:pt x="552450" y="6248400"/>
                  </a:lnTo>
                  <a:moveTo>
                    <a:pt x="10991850" y="6248400"/>
                  </a:moveTo>
                  <a:lnTo>
                    <a:pt x="11544300" y="6248400"/>
                  </a:lnTo>
                  <a:lnTo>
                    <a:pt x="11544300" y="5848350"/>
                  </a:lnTo>
                </a:path>
              </a:pathLst>
            </a:custGeom>
            <a:noFill/>
            <a:ln w="19050">
              <a:solidFill>
                <a:schemeClr val="accent2">
                  <a:alpha val="65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810875" y="447675"/>
              <a:ext cx="133350" cy="133350"/>
            </a:xfrm>
            <a:prstGeom prst="ellipse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043285" y="431800"/>
              <a:ext cx="33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REC</a:t>
              </a:r>
              <a:endParaRPr lang="en-US" sz="1120" b="1" spc="150" dirty="0">
                <a:solidFill>
                  <a:schemeClr val="dk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7116" y="444500"/>
              <a:ext cx="1948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03 / MISSION BRIEF</a:t>
              </a:r>
              <a:endParaRPr lang="en-US" sz="1050" spc="1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901047" y="6362700"/>
              <a:ext cx="8603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00:01:02:08</a:t>
              </a:r>
              <a:endParaRPr lang="zh-CN" sz="98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  <p:grpSp>
        <p:nvGrpSpPr>
          <p:cNvPr id="13" name="heading"/>
          <p:cNvGrpSpPr/>
          <p:nvPr/>
        </p:nvGrpSpPr>
        <p:grpSpPr>
          <a:xfrm>
            <a:off x="593598" y="971550"/>
            <a:ext cx="2152269" cy="616077"/>
            <a:chOff x="593598" y="971550"/>
            <a:chExt cx="2152269" cy="616077"/>
          </a:xfrm>
        </p:grpSpPr>
        <p:sp>
          <p:nvSpPr>
            <p:cNvPr id="10" name="TextBox 10"/>
            <p:cNvSpPr txBox="1"/>
            <p:nvPr/>
          </p:nvSpPr>
          <p:spPr>
            <a:xfrm>
              <a:off x="593598" y="971550"/>
              <a:ext cx="21522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背景与任务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1504950"/>
              <a:ext cx="7810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466850" y="1504950"/>
              <a:ext cx="3238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rcRect l="7671" r="7671"/>
          <a:stretch>
            <a:fillRect/>
          </a:stretch>
        </p:blipFill>
        <p:spPr>
          <a:xfrm>
            <a:off x="4568190" y="139700"/>
            <a:ext cx="7491730" cy="4980940"/>
          </a:xfrm>
          <a:prstGeom prst="roundRect">
            <a:avLst>
              <a:gd name="adj" fmla="val 3814"/>
            </a:avLst>
          </a:prstGeom>
        </p:spPr>
      </p:pic>
      <p:grpSp>
        <p:nvGrpSpPr>
          <p:cNvPr id="17" name="brief"/>
          <p:cNvGrpSpPr/>
          <p:nvPr/>
        </p:nvGrpSpPr>
        <p:grpSpPr>
          <a:xfrm>
            <a:off x="637032" y="2012950"/>
            <a:ext cx="5675376" cy="1059307"/>
            <a:chOff x="637032" y="2012950"/>
            <a:chExt cx="5675376" cy="1059307"/>
          </a:xfrm>
        </p:grpSpPr>
        <p:sp>
          <p:nvSpPr>
            <p:cNvPr id="14" name="TextBox 14"/>
            <p:cNvSpPr txBox="1"/>
            <p:nvPr/>
          </p:nvSpPr>
          <p:spPr>
            <a:xfrm>
              <a:off x="641985" y="2012950"/>
              <a:ext cx="4025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LOCATION // SHANGHAI · YANGPU · WUJIAOCHANG</a:t>
              </a:r>
              <a:endParaRPr lang="en-US" sz="1120" b="1" dirty="0">
                <a:solidFill>
                  <a:schemeClr val="accent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032" y="233680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铁人叛乱后，机器人帮派占据了五角场楼宇。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318" y="2749550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玩家作为改造人清缴员，沿楼层向上回收失控设施。</a:t>
              </a:r>
              <a:endParaRPr lang="zh-CN" sz="16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mission-chain"/>
          <p:cNvGrpSpPr/>
          <p:nvPr>
            <p:custDataLst>
              <p:tags r:id="rId3"/>
            </p:custDataLst>
          </p:nvPr>
        </p:nvGrpSpPr>
        <p:grpSpPr>
          <a:xfrm>
            <a:off x="685800" y="3352800"/>
            <a:ext cx="6081649" cy="2400300"/>
            <a:chOff x="685800" y="3352800"/>
            <a:chExt cx="6081649" cy="2400300"/>
          </a:xfrm>
        </p:grpSpPr>
        <p:sp>
          <p:nvSpPr>
            <p:cNvPr id="18" name="Line 18"/>
            <p:cNvSpPr/>
            <p:nvPr>
              <p:custDataLst>
                <p:tags r:id="rId4"/>
              </p:custDataLst>
            </p:nvPr>
          </p:nvSpPr>
          <p:spPr>
            <a:xfrm>
              <a:off x="990600" y="3524250"/>
              <a:ext cx="9525" cy="2076450"/>
            </a:xfrm>
            <a:custGeom>
              <a:avLst/>
              <a:gdLst/>
              <a:ahLst/>
              <a:cxnLst/>
              <a:rect l="l" t="t" r="r" b="b"/>
              <a:pathLst>
                <a:path w="9525" h="2076450">
                  <a:moveTo>
                    <a:pt x="0" y="0"/>
                  </a:moveTo>
                  <a:lnTo>
                    <a:pt x="0" y="207645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19" name="Polygon 19"/>
            <p:cNvSpPr/>
            <p:nvPr>
              <p:custDataLst>
                <p:tags r:id="rId5"/>
              </p:custDataLst>
            </p:nvPr>
          </p:nvSpPr>
          <p:spPr>
            <a:xfrm>
              <a:off x="895350" y="55626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95250" y="190500"/>
                  </a:moveTo>
                  <a:lnTo>
                    <a:pt x="0" y="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5800" y="3352800"/>
              <a:ext cx="5305044" cy="632333"/>
              <a:chOff x="685800" y="3352800"/>
              <a:chExt cx="5305044" cy="632333"/>
            </a:xfrm>
          </p:grpSpPr>
          <p:sp>
            <p:nvSpPr>
              <p:cNvPr id="20" name="Rectangle 20"/>
              <p:cNvSpPr/>
              <p:nvPr>
                <p:custDataLst>
                  <p:tags r:id="rId6"/>
                </p:custDataLst>
              </p:nvPr>
            </p:nvSpPr>
            <p:spPr>
              <a:xfrm>
                <a:off x="685800" y="3352800"/>
                <a:ext cx="609600" cy="4381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89839" y="3495675"/>
                <a:ext cx="2015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A0014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01</a:t>
                </a:r>
                <a:endParaRPr lang="zh-CN" sz="1200" b="1" dirty="0">
                  <a:solidFill>
                    <a:srgbClr val="0A0014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533144" y="3359150"/>
                <a:ext cx="4457700" cy="299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回收机体组件（武器，机动，</a:t>
                </a:r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天赋核心）</a:t>
                </a:r>
                <a:endPara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536192" y="3721100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建立本局配装与连携效果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85800" y="4171950"/>
              <a:ext cx="5057394" cy="632333"/>
              <a:chOff x="685800" y="4171950"/>
              <a:chExt cx="5057394" cy="632333"/>
            </a:xfrm>
          </p:grpSpPr>
          <p:sp>
            <p:nvSpPr>
              <p:cNvPr id="25" name="Rectangle 25"/>
              <p:cNvSpPr/>
              <p:nvPr>
                <p:custDataLst>
                  <p:tags r:id="rId10"/>
                </p:custDataLst>
              </p:nvPr>
            </p:nvSpPr>
            <p:spPr>
              <a:xfrm>
                <a:off x="685800" y="4171950"/>
                <a:ext cx="609600" cy="4381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89839" y="4314825"/>
                <a:ext cx="2015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A0014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02</a:t>
                </a:r>
                <a:endParaRPr lang="zh-CN" sz="1200" b="1" dirty="0">
                  <a:solidFill>
                    <a:srgbClr val="0A0014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533144" y="4178300"/>
                <a:ext cx="4210050" cy="299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解救被困人质（解锁基地合成</a:t>
                </a:r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等功能）</a:t>
                </a:r>
                <a:endPara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536192" y="4540250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成功撤离后解锁基地新功能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685800" y="4991100"/>
              <a:ext cx="6081649" cy="632333"/>
              <a:chOff x="685800" y="4991100"/>
              <a:chExt cx="6081649" cy="632333"/>
            </a:xfrm>
          </p:grpSpPr>
          <p:sp>
            <p:nvSpPr>
              <p:cNvPr id="30" name="Rectangle 30"/>
              <p:cNvSpPr/>
              <p:nvPr>
                <p:custDataLst>
                  <p:tags r:id="rId14"/>
                </p:custDataLst>
              </p:nvPr>
            </p:nvSpPr>
            <p:spPr>
              <a:xfrm>
                <a:off x="685800" y="4991100"/>
                <a:ext cx="609600" cy="4381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889839" y="5133975"/>
                <a:ext cx="2015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A0014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03</a:t>
                </a:r>
                <a:endParaRPr lang="zh-CN" sz="1200" b="1" dirty="0">
                  <a:solidFill>
                    <a:srgbClr val="0A0014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32" name="TextBox 3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533144" y="4997450"/>
                <a:ext cx="5234305" cy="299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关闭屋顶控制核心（打败楼顶</a:t>
                </a:r>
                <a:r>
                  <a:rPr lang="en-US" altLang="zh-CN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boss</a:t>
                </a:r>
                <a:r>
                  <a:rPr altLang="en-US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，</a:t>
                </a:r>
                <a:r>
                  <a:rPr altLang="en-US" sz="19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阶段通关）</a:t>
                </a:r>
                <a:endParaRPr altLang="en-US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536192" y="5359400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结束本次楼宇清缴行动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" name="scope-note"/>
          <p:cNvGrpSpPr/>
          <p:nvPr/>
        </p:nvGrpSpPr>
        <p:grpSpPr>
          <a:xfrm>
            <a:off x="8173720" y="5334000"/>
            <a:ext cx="3371850" cy="1028700"/>
            <a:chOff x="7886700" y="4762500"/>
            <a:chExt cx="3371850" cy="1028700"/>
          </a:xfrm>
        </p:grpSpPr>
        <p:sp>
          <p:nvSpPr>
            <p:cNvPr id="36" name="Rectangle 36"/>
            <p:cNvSpPr/>
            <p:nvPr/>
          </p:nvSpPr>
          <p:spPr>
            <a:xfrm>
              <a:off x="7886700" y="4762500"/>
              <a:ext cx="3371850" cy="1028700"/>
            </a:xfrm>
            <a:prstGeom prst="rect">
              <a:avLst/>
            </a:prstGeom>
            <a:solidFill>
              <a:schemeClr val="lt1">
                <a:alpha val="82000"/>
              </a:schemeClr>
            </a:solidFill>
            <a:ln w="19050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90916" y="4940300"/>
              <a:ext cx="1761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3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WORLD-BUILDING SCOPE</a:t>
              </a:r>
              <a:endParaRPr lang="en-US" sz="1050" dirty="0">
                <a:solidFill>
                  <a:schemeClr val="accent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8630" y="52324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世界观只服务玩法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89773" y="5505450"/>
              <a:ext cx="27143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任务简报 / 场景文字 / 短 NPC 对话</a:t>
              </a:r>
              <a:endParaRPr lang="zh-CN" sz="12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9475470" y="4804410"/>
            <a:ext cx="609600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050" b="0">
                <a:solidFill>
                  <a:srgbClr val="AAB8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AAB8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概念画面，不代表当前实机</a:t>
            </a:r>
            <a:endParaRPr lang="zh-CN" altLang="en-US" sz="1050">
              <a:solidFill>
                <a:srgbClr val="AAB8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hrome"/>
          <p:cNvGrpSpPr/>
          <p:nvPr/>
        </p:nvGrpSpPr>
        <p:grpSpPr>
          <a:xfrm>
            <a:off x="323850" y="304800"/>
            <a:ext cx="11544300" cy="6249543"/>
            <a:chOff x="323850" y="304800"/>
            <a:chExt cx="11544300" cy="6249543"/>
          </a:xfrm>
        </p:grpSpPr>
        <p:sp>
          <p:nvSpPr>
            <p:cNvPr id="2" name="Freeform 2"/>
            <p:cNvSpPr/>
            <p:nvPr/>
          </p:nvSpPr>
          <p:spPr>
            <a:xfrm>
              <a:off x="323850" y="304800"/>
              <a:ext cx="11544300" cy="6248400"/>
            </a:xfrm>
            <a:custGeom>
              <a:avLst/>
              <a:gdLst/>
              <a:ahLst/>
              <a:cxnLst/>
              <a:rect l="l" t="t" r="r" b="b"/>
              <a:pathLst>
                <a:path w="11544300" h="6248400">
                  <a:moveTo>
                    <a:pt x="0" y="400050"/>
                  </a:moveTo>
                  <a:lnTo>
                    <a:pt x="0" y="0"/>
                  </a:lnTo>
                  <a:lnTo>
                    <a:pt x="552450" y="0"/>
                  </a:lnTo>
                  <a:moveTo>
                    <a:pt x="10991850" y="0"/>
                  </a:moveTo>
                  <a:lnTo>
                    <a:pt x="11544300" y="0"/>
                  </a:lnTo>
                  <a:lnTo>
                    <a:pt x="11544300" y="400050"/>
                  </a:lnTo>
                  <a:moveTo>
                    <a:pt x="0" y="5848350"/>
                  </a:moveTo>
                  <a:lnTo>
                    <a:pt x="0" y="6248400"/>
                  </a:lnTo>
                  <a:lnTo>
                    <a:pt x="552450" y="6248400"/>
                  </a:lnTo>
                  <a:moveTo>
                    <a:pt x="10991850" y="6248400"/>
                  </a:moveTo>
                  <a:lnTo>
                    <a:pt x="11544300" y="6248400"/>
                  </a:lnTo>
                  <a:lnTo>
                    <a:pt x="11544300" y="5848350"/>
                  </a:lnTo>
                </a:path>
              </a:pathLst>
            </a:custGeom>
            <a:noFill/>
            <a:ln w="19050">
              <a:solidFill>
                <a:schemeClr val="accent2">
                  <a:alpha val="65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10810875" y="447675"/>
              <a:ext cx="133350" cy="133350"/>
            </a:xfrm>
            <a:prstGeom prst="ellipse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43285" y="431800"/>
              <a:ext cx="33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REC</a:t>
              </a:r>
              <a:endParaRPr lang="en-US" sz="1120" b="1" spc="150" dirty="0">
                <a:solidFill>
                  <a:schemeClr val="dk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7116" y="444500"/>
              <a:ext cx="15133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04 / CORE LOOP</a:t>
              </a:r>
              <a:endParaRPr lang="en-US" sz="1050" spc="1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901047" y="6362700"/>
              <a:ext cx="8603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00:01:34:20</a:t>
              </a:r>
              <a:endParaRPr lang="zh-CN" sz="98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  <p:grpSp>
        <p:nvGrpSpPr>
          <p:cNvPr id="12" name="heading"/>
          <p:cNvGrpSpPr/>
          <p:nvPr/>
        </p:nvGrpSpPr>
        <p:grpSpPr>
          <a:xfrm>
            <a:off x="593598" y="971550"/>
            <a:ext cx="10882884" cy="616077"/>
            <a:chOff x="593598" y="971550"/>
            <a:chExt cx="10882884" cy="616077"/>
          </a:xfrm>
        </p:grpSpPr>
        <p:sp>
          <p:nvSpPr>
            <p:cNvPr id="8" name="TextBox 8"/>
            <p:cNvSpPr txBox="1"/>
            <p:nvPr/>
          </p:nvSpPr>
          <p:spPr>
            <a:xfrm>
              <a:off x="593598" y="971550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核心循环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1504950"/>
              <a:ext cx="7810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466850" y="1504950"/>
              <a:ext cx="3238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905750" y="1149350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清场只是开始，何时离开才是决定。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loop-spine"/>
          <p:cNvGrpSpPr/>
          <p:nvPr/>
        </p:nvGrpSpPr>
        <p:grpSpPr>
          <a:xfrm>
            <a:off x="590550" y="1981200"/>
            <a:ext cx="10610850" cy="2324100"/>
            <a:chOff x="590550" y="1981200"/>
            <a:chExt cx="10610850" cy="2324100"/>
          </a:xfrm>
        </p:grpSpPr>
        <p:sp>
          <p:nvSpPr>
            <p:cNvPr id="13" name="Freeform 13"/>
            <p:cNvSpPr/>
            <p:nvPr/>
          </p:nvSpPr>
          <p:spPr>
            <a:xfrm>
              <a:off x="1066800" y="2362200"/>
              <a:ext cx="9867900" cy="476250"/>
            </a:xfrm>
            <a:custGeom>
              <a:avLst/>
              <a:gdLst/>
              <a:ahLst/>
              <a:cxnLst/>
              <a:rect l="l" t="t" r="r" b="b"/>
              <a:pathLst>
                <a:path w="9867900" h="476250">
                  <a:moveTo>
                    <a:pt x="0" y="476250"/>
                  </a:moveTo>
                  <a:lnTo>
                    <a:pt x="1771650" y="476250"/>
                  </a:lnTo>
                  <a:lnTo>
                    <a:pt x="2057400" y="0"/>
                  </a:lnTo>
                  <a:lnTo>
                    <a:pt x="3752850" y="0"/>
                  </a:lnTo>
                  <a:lnTo>
                    <a:pt x="4038600" y="476250"/>
                  </a:lnTo>
                  <a:lnTo>
                    <a:pt x="5734050" y="476250"/>
                  </a:lnTo>
                  <a:lnTo>
                    <a:pt x="6019800" y="0"/>
                  </a:lnTo>
                  <a:lnTo>
                    <a:pt x="7715250" y="0"/>
                  </a:lnTo>
                  <a:lnTo>
                    <a:pt x="8001000" y="476250"/>
                  </a:lnTo>
                  <a:lnTo>
                    <a:pt x="9867900" y="476250"/>
                  </a:lnTo>
                </a:path>
              </a:pathLst>
            </a:custGeom>
            <a:noFill/>
            <a:ln w="85725">
              <a:solidFill>
                <a:schemeClr val="accent6"/>
              </a:solidFill>
              <a:bevel/>
            </a:ln>
          </p:spPr>
        </p:sp>
        <p:sp>
          <p:nvSpPr>
            <p:cNvPr id="14" name="Polygon 14"/>
            <p:cNvSpPr/>
            <p:nvPr/>
          </p:nvSpPr>
          <p:spPr>
            <a:xfrm>
              <a:off x="10744200" y="2705100"/>
              <a:ext cx="190500" cy="266700"/>
            </a:xfrm>
            <a:custGeom>
              <a:avLst/>
              <a:gdLst/>
              <a:ahLst/>
              <a:cxnLst/>
              <a:rect l="l" t="t" r="r" b="b"/>
              <a:pathLst>
                <a:path w="190500" h="266700">
                  <a:moveTo>
                    <a:pt x="19050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828800" y="3143250"/>
              <a:ext cx="9105900" cy="1162050"/>
            </a:xfrm>
            <a:custGeom>
              <a:avLst/>
              <a:gdLst/>
              <a:ahLst/>
              <a:cxnLst/>
              <a:rect l="l" t="t" r="r" b="b"/>
              <a:pathLst>
                <a:path w="9105900" h="1162050">
                  <a:moveTo>
                    <a:pt x="9105900" y="0"/>
                  </a:moveTo>
                  <a:lnTo>
                    <a:pt x="9105900" y="1162050"/>
                  </a:lnTo>
                  <a:lnTo>
                    <a:pt x="0" y="1162050"/>
                  </a:lnTo>
                  <a:lnTo>
                    <a:pt x="0" y="266700"/>
                  </a:lnTo>
                </a:path>
              </a:pathLst>
            </a:custGeom>
            <a:noFill/>
            <a:ln w="38100">
              <a:solidFill>
                <a:schemeClr val="accent2">
                  <a:alpha val="80000"/>
                </a:schemeClr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714500" y="3276600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114300" y="0"/>
                  </a:moveTo>
                  <a:lnTo>
                    <a:pt x="0" y="190500"/>
                  </a:lnTo>
                  <a:lnTo>
                    <a:pt x="228600" y="1905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90550" y="2457450"/>
              <a:ext cx="1466850" cy="762000"/>
              <a:chOff x="590550" y="2457450"/>
              <a:chExt cx="1466850" cy="762000"/>
            </a:xfrm>
          </p:grpSpPr>
          <p:sp>
            <p:nvSpPr>
              <p:cNvPr id="17" name="Polygon 17"/>
              <p:cNvSpPr/>
              <p:nvPr/>
            </p:nvSpPr>
            <p:spPr>
              <a:xfrm>
                <a:off x="590550" y="2457450"/>
                <a:ext cx="14668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762000">
                    <a:moveTo>
                      <a:pt x="190500" y="0"/>
                    </a:moveTo>
                    <a:lnTo>
                      <a:pt x="1276350" y="0"/>
                    </a:lnTo>
                    <a:lnTo>
                      <a:pt x="1466850" y="381000"/>
                    </a:lnTo>
                    <a:lnTo>
                      <a:pt x="1276350" y="762000"/>
                    </a:lnTo>
                    <a:lnTo>
                      <a:pt x="190500" y="762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71347" y="2568575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基地整备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65937" y="2889250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选择初始装备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419350" y="1981200"/>
              <a:ext cx="1466850" cy="762000"/>
              <a:chOff x="2419350" y="1981200"/>
              <a:chExt cx="1466850" cy="762000"/>
            </a:xfrm>
          </p:grpSpPr>
          <p:sp>
            <p:nvSpPr>
              <p:cNvPr id="21" name="Polygon 21"/>
              <p:cNvSpPr/>
              <p:nvPr/>
            </p:nvSpPr>
            <p:spPr>
              <a:xfrm>
                <a:off x="2419350" y="1981200"/>
                <a:ext cx="14668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762000">
                    <a:moveTo>
                      <a:pt x="190500" y="0"/>
                    </a:moveTo>
                    <a:lnTo>
                      <a:pt x="1276350" y="0"/>
                    </a:lnTo>
                    <a:lnTo>
                      <a:pt x="1466850" y="381000"/>
                    </a:lnTo>
                    <a:lnTo>
                      <a:pt x="1276350" y="762000"/>
                    </a:lnTo>
                    <a:lnTo>
                      <a:pt x="190500" y="762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700147" y="2092325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进入楼层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694737" y="2413000"/>
                <a:ext cx="91607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抽取战斗场景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248150" y="2457450"/>
              <a:ext cx="1466850" cy="762000"/>
              <a:chOff x="4248150" y="2457450"/>
              <a:chExt cx="1466850" cy="762000"/>
            </a:xfrm>
          </p:grpSpPr>
          <p:sp>
            <p:nvSpPr>
              <p:cNvPr id="25" name="Polygon 25"/>
              <p:cNvSpPr/>
              <p:nvPr/>
            </p:nvSpPr>
            <p:spPr>
              <a:xfrm>
                <a:off x="4248150" y="2457450"/>
                <a:ext cx="14668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762000">
                    <a:moveTo>
                      <a:pt x="190500" y="0"/>
                    </a:moveTo>
                    <a:lnTo>
                      <a:pt x="1276350" y="0"/>
                    </a:lnTo>
                    <a:lnTo>
                      <a:pt x="1466850" y="381000"/>
                    </a:lnTo>
                    <a:lnTo>
                      <a:pt x="1276350" y="762000"/>
                    </a:lnTo>
                    <a:lnTo>
                      <a:pt x="190500" y="762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528947" y="2568575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A0014"/>
                    </a:solidFill>
                    <a:latin typeface="+mn-lt"/>
                    <a:ea typeface="+mn-ea"/>
                    <a:cs typeface="+mn-cs"/>
                  </a:rPr>
                  <a:t>高速清场</a:t>
                </a:r>
                <a:endParaRPr lang="zh-CN" sz="165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583281" y="2889250"/>
                <a:ext cx="79658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0A0014"/>
                    </a:solidFill>
                    <a:latin typeface="+mn-lt"/>
                    <a:ea typeface="+mn-ea"/>
                    <a:cs typeface="+mn-cs"/>
                  </a:rPr>
                  <a:t>格挡 / 反击</a:t>
                </a:r>
                <a:endParaRPr lang="zh-CN" sz="112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076950" y="1981200"/>
              <a:ext cx="1466850" cy="762000"/>
              <a:chOff x="6076950" y="1981200"/>
              <a:chExt cx="1466850" cy="762000"/>
            </a:xfrm>
          </p:grpSpPr>
          <p:sp>
            <p:nvSpPr>
              <p:cNvPr id="29" name="Polygon 29"/>
              <p:cNvSpPr/>
              <p:nvPr/>
            </p:nvSpPr>
            <p:spPr>
              <a:xfrm>
                <a:off x="6076950" y="1981200"/>
                <a:ext cx="14668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762000">
                    <a:moveTo>
                      <a:pt x="190500" y="0"/>
                    </a:moveTo>
                    <a:lnTo>
                      <a:pt x="1276350" y="0"/>
                    </a:lnTo>
                    <a:lnTo>
                      <a:pt x="1466850" y="381000"/>
                    </a:lnTo>
                    <a:lnTo>
                      <a:pt x="1276350" y="762000"/>
                    </a:lnTo>
                    <a:lnTo>
                      <a:pt x="190500" y="762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357747" y="2092325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搜集组件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103559" y="2413000"/>
                <a:ext cx="14136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尸体 / 无人机 / 奖励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7905750" y="2457450"/>
              <a:ext cx="1466850" cy="762000"/>
              <a:chOff x="7905750" y="2457450"/>
              <a:chExt cx="1466850" cy="762000"/>
            </a:xfrm>
          </p:grpSpPr>
          <p:sp>
            <p:nvSpPr>
              <p:cNvPr id="33" name="Polygon 33"/>
              <p:cNvSpPr/>
              <p:nvPr/>
            </p:nvSpPr>
            <p:spPr>
              <a:xfrm>
                <a:off x="7905750" y="2457450"/>
                <a:ext cx="14668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762000">
                    <a:moveTo>
                      <a:pt x="190500" y="0"/>
                    </a:moveTo>
                    <a:lnTo>
                      <a:pt x="1276350" y="0"/>
                    </a:lnTo>
                    <a:lnTo>
                      <a:pt x="1466850" y="381000"/>
                    </a:lnTo>
                    <a:lnTo>
                      <a:pt x="1276350" y="762000"/>
                    </a:lnTo>
                    <a:lnTo>
                      <a:pt x="190500" y="762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chemeClr val="lt2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186547" y="2568575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安全换装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31911" y="2889250"/>
                <a:ext cx="6145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组合流派</a:t>
                </a:r>
                <a:endPara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734550" y="2457450"/>
              <a:ext cx="1466850" cy="762000"/>
              <a:chOff x="9734550" y="2457450"/>
              <a:chExt cx="1466850" cy="762000"/>
            </a:xfrm>
          </p:grpSpPr>
          <p:sp>
            <p:nvSpPr>
              <p:cNvPr id="37" name="Polygon 37"/>
              <p:cNvSpPr/>
              <p:nvPr/>
            </p:nvSpPr>
            <p:spPr>
              <a:xfrm>
                <a:off x="9734550" y="2457450"/>
                <a:ext cx="146685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762000">
                    <a:moveTo>
                      <a:pt x="190500" y="0"/>
                    </a:moveTo>
                    <a:lnTo>
                      <a:pt x="1276350" y="0"/>
                    </a:lnTo>
                    <a:lnTo>
                      <a:pt x="1466850" y="381000"/>
                    </a:lnTo>
                    <a:lnTo>
                      <a:pt x="1276350" y="762000"/>
                    </a:lnTo>
                    <a:lnTo>
                      <a:pt x="190500" y="762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015347" y="2568575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A0014"/>
                    </a:solidFill>
                    <a:latin typeface="+mn-lt"/>
                    <a:ea typeface="+mn-ea"/>
                    <a:cs typeface="+mn-cs"/>
                  </a:rPr>
                  <a:t>电梯决策</a:t>
                </a:r>
                <a:endParaRPr lang="zh-CN" sz="165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069681" y="2889250"/>
                <a:ext cx="79658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rgbClr val="0A0014"/>
                    </a:solidFill>
                    <a:latin typeface="+mn-lt"/>
                    <a:ea typeface="+mn-ea"/>
                    <a:cs typeface="+mn-cs"/>
                  </a:rPr>
                  <a:t>撤离 / 继续</a:t>
                </a:r>
                <a:endParaRPr lang="zh-CN" sz="112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8" name="outcomes"/>
          <p:cNvGrpSpPr/>
          <p:nvPr/>
        </p:nvGrpSpPr>
        <p:grpSpPr>
          <a:xfrm>
            <a:off x="1219200" y="5029200"/>
            <a:ext cx="9753600" cy="857250"/>
            <a:chOff x="1219200" y="5029200"/>
            <a:chExt cx="9753600" cy="857250"/>
          </a:xfrm>
        </p:grpSpPr>
        <p:sp>
          <p:nvSpPr>
            <p:cNvPr id="42" name="Polygon 42"/>
            <p:cNvSpPr/>
            <p:nvPr/>
          </p:nvSpPr>
          <p:spPr>
            <a:xfrm>
              <a:off x="1219200" y="5029200"/>
              <a:ext cx="4171950" cy="857250"/>
            </a:xfrm>
            <a:custGeom>
              <a:avLst/>
              <a:gdLst/>
              <a:ahLst/>
              <a:cxnLst/>
              <a:rect l="l" t="t" r="r" b="b"/>
              <a:pathLst>
                <a:path w="4171950" h="857250">
                  <a:moveTo>
                    <a:pt x="209550" y="0"/>
                  </a:moveTo>
                  <a:lnTo>
                    <a:pt x="4171950" y="0"/>
                  </a:lnTo>
                  <a:lnTo>
                    <a:pt x="39624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chemeClr val="accent2">
                <a:alpha val="16000"/>
              </a:schemeClr>
            </a:solidFill>
            <a:ln w="28575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51635" y="5213350"/>
              <a:ext cx="664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EXTRACT</a:t>
              </a:r>
              <a:endParaRPr lang="en-US" sz="1120" b="1" dirty="0">
                <a:solidFill>
                  <a:schemeClr val="accent2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48968" y="5473700"/>
              <a:ext cx="295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撤离成功 → 背包物品进入仓库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Polygon 45"/>
            <p:cNvSpPr/>
            <p:nvPr/>
          </p:nvSpPr>
          <p:spPr>
            <a:xfrm>
              <a:off x="6800850" y="5029200"/>
              <a:ext cx="4171950" cy="857250"/>
            </a:xfrm>
            <a:custGeom>
              <a:avLst/>
              <a:gdLst/>
              <a:ahLst/>
              <a:cxnLst/>
              <a:rect l="l" t="t" r="r" b="b"/>
              <a:pathLst>
                <a:path w="4171950" h="857250">
                  <a:moveTo>
                    <a:pt x="0" y="0"/>
                  </a:moveTo>
                  <a:lnTo>
                    <a:pt x="3962400" y="0"/>
                  </a:lnTo>
                  <a:lnTo>
                    <a:pt x="4171950" y="857250"/>
                  </a:lnTo>
                  <a:lnTo>
                    <a:pt x="209550" y="857250"/>
                  </a:lnTo>
                  <a:close/>
                </a:path>
              </a:pathLst>
            </a:custGeom>
            <a:solidFill>
              <a:schemeClr val="accent1">
                <a:alpha val="14000"/>
              </a:schemeClr>
            </a:solidFill>
            <a:ln w="28575">
              <a:solidFill>
                <a:schemeClr val="accent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95185" y="5213350"/>
              <a:ext cx="10383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PUSH DEEPER</a:t>
              </a:r>
              <a:endParaRPr lang="en-US" sz="1120" b="1" dirty="0">
                <a:solidFill>
                  <a:schemeClr val="accent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92518" y="5473700"/>
              <a:ext cx="317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继续登楼 → 更高风险与更好掉落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hrome"/>
          <p:cNvGrpSpPr/>
          <p:nvPr/>
        </p:nvGrpSpPr>
        <p:grpSpPr>
          <a:xfrm>
            <a:off x="323850" y="304800"/>
            <a:ext cx="11544300" cy="6249543"/>
            <a:chOff x="323850" y="304800"/>
            <a:chExt cx="11544300" cy="6249543"/>
          </a:xfrm>
        </p:grpSpPr>
        <p:sp>
          <p:nvSpPr>
            <p:cNvPr id="2" name="Freeform 2"/>
            <p:cNvSpPr/>
            <p:nvPr/>
          </p:nvSpPr>
          <p:spPr>
            <a:xfrm>
              <a:off x="323850" y="304800"/>
              <a:ext cx="11544300" cy="6248400"/>
            </a:xfrm>
            <a:custGeom>
              <a:avLst/>
              <a:gdLst/>
              <a:ahLst/>
              <a:cxnLst/>
              <a:rect l="l" t="t" r="r" b="b"/>
              <a:pathLst>
                <a:path w="11544300" h="6248400">
                  <a:moveTo>
                    <a:pt x="0" y="400050"/>
                  </a:moveTo>
                  <a:lnTo>
                    <a:pt x="0" y="0"/>
                  </a:lnTo>
                  <a:lnTo>
                    <a:pt x="552450" y="0"/>
                  </a:lnTo>
                  <a:moveTo>
                    <a:pt x="10991850" y="0"/>
                  </a:moveTo>
                  <a:lnTo>
                    <a:pt x="11544300" y="0"/>
                  </a:lnTo>
                  <a:lnTo>
                    <a:pt x="11544300" y="400050"/>
                  </a:lnTo>
                  <a:moveTo>
                    <a:pt x="0" y="5848350"/>
                  </a:moveTo>
                  <a:lnTo>
                    <a:pt x="0" y="6248400"/>
                  </a:lnTo>
                  <a:lnTo>
                    <a:pt x="552450" y="6248400"/>
                  </a:lnTo>
                  <a:moveTo>
                    <a:pt x="10991850" y="6248400"/>
                  </a:moveTo>
                  <a:lnTo>
                    <a:pt x="11544300" y="6248400"/>
                  </a:lnTo>
                  <a:lnTo>
                    <a:pt x="11544300" y="5848350"/>
                  </a:lnTo>
                </a:path>
              </a:pathLst>
            </a:custGeom>
            <a:noFill/>
            <a:ln w="19050">
              <a:solidFill>
                <a:schemeClr val="accent2">
                  <a:alpha val="65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10810875" y="447675"/>
              <a:ext cx="133350" cy="133350"/>
            </a:xfrm>
            <a:prstGeom prst="ellipse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43285" y="431800"/>
              <a:ext cx="33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REC</a:t>
              </a:r>
              <a:endParaRPr lang="en-US" sz="1120" b="1" spc="150" dirty="0">
                <a:solidFill>
                  <a:schemeClr val="dk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7116" y="444500"/>
              <a:ext cx="19487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05 / PERFECT BLOCK</a:t>
              </a:r>
              <a:endParaRPr lang="en-US" sz="1050" spc="1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901047" y="6362700"/>
              <a:ext cx="8603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00:02:10:04</a:t>
              </a:r>
              <a:endParaRPr lang="zh-CN" sz="98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  <p:grpSp>
        <p:nvGrpSpPr>
          <p:cNvPr id="12" name="heading"/>
          <p:cNvGrpSpPr/>
          <p:nvPr/>
        </p:nvGrpSpPr>
        <p:grpSpPr>
          <a:xfrm>
            <a:off x="593598" y="971550"/>
            <a:ext cx="10880217" cy="581025"/>
            <a:chOff x="593598" y="971550"/>
            <a:chExt cx="10880217" cy="581025"/>
          </a:xfrm>
        </p:grpSpPr>
        <p:sp>
          <p:nvSpPr>
            <p:cNvPr id="8" name="TextBox 8"/>
            <p:cNvSpPr txBox="1"/>
            <p:nvPr/>
          </p:nvSpPr>
          <p:spPr>
            <a:xfrm>
              <a:off x="593598" y="971550"/>
              <a:ext cx="6000750" cy="484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战斗与完美格挡（高风险高</a:t>
              </a:r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回报）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1504950"/>
              <a:ext cx="7810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466850" y="1504950"/>
              <a:ext cx="3238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68381" y="1212850"/>
              <a:ext cx="2905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accent3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NO COOLDOWN // COMMIT TO TIMING</a:t>
              </a:r>
              <a:endParaRPr lang="en-US" sz="1120" dirty="0">
                <a:solidFill>
                  <a:schemeClr val="accent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  <p:grpSp>
        <p:nvGrpSpPr>
          <p:cNvPr id="35" name="timing"/>
          <p:cNvGrpSpPr/>
          <p:nvPr/>
        </p:nvGrpSpPr>
        <p:grpSpPr>
          <a:xfrm>
            <a:off x="622935" y="2089150"/>
            <a:ext cx="6901815" cy="2293620"/>
            <a:chOff x="622935" y="2089150"/>
            <a:chExt cx="6901815" cy="2293620"/>
          </a:xfrm>
        </p:grpSpPr>
        <p:sp>
          <p:nvSpPr>
            <p:cNvPr id="13" name="TextBox 13"/>
            <p:cNvSpPr txBox="1"/>
            <p:nvPr/>
          </p:nvSpPr>
          <p:spPr>
            <a:xfrm>
              <a:off x="622935" y="2089150"/>
              <a:ext cx="18785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BLOCK STATE SEQUENCE</a:t>
              </a:r>
              <a:endParaRPr lang="en-US" sz="112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781050" y="3009900"/>
              <a:ext cx="6648450" cy="9525"/>
            </a:xfrm>
            <a:custGeom>
              <a:avLst/>
              <a:gdLst/>
              <a:ahLst/>
              <a:cxnLst/>
              <a:rect l="l" t="t" r="r" b="b"/>
              <a:pathLst>
                <a:path w="6648450" h="9525">
                  <a:moveTo>
                    <a:pt x="0" y="0"/>
                  </a:moveTo>
                  <a:lnTo>
                    <a:pt x="6648450" y="0"/>
                  </a:lnTo>
                </a:path>
              </a:pathLst>
            </a:custGeom>
            <a:noFill/>
            <a:ln w="76200">
              <a:solidFill>
                <a:schemeClr val="accent6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7334250" y="2876550"/>
              <a:ext cx="190500" cy="266700"/>
            </a:xfrm>
            <a:custGeom>
              <a:avLst/>
              <a:gdLst/>
              <a:ahLst/>
              <a:cxnLst/>
              <a:rect l="l" t="t" r="r" b="b"/>
              <a:pathLst>
                <a:path w="190500" h="266700">
                  <a:moveTo>
                    <a:pt x="190500" y="133350"/>
                  </a:move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85800" y="2533650"/>
              <a:ext cx="1428750" cy="952500"/>
              <a:chOff x="685800" y="2533650"/>
              <a:chExt cx="1428750" cy="952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85800" y="2533650"/>
                <a:ext cx="1428750" cy="952500"/>
              </a:xfrm>
              <a:prstGeom prst="rect">
                <a:avLst/>
              </a:prstGeom>
              <a:solidFill>
                <a:schemeClr val="lt2"/>
              </a:solidFill>
              <a:ln w="19050">
                <a:solidFill>
                  <a:srgbClr val="B6AFC7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169670" y="2654300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前摇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19880" y="3009900"/>
                <a:ext cx="760591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80" b="1" dirty="0">
                    <a:solidFill>
                      <a:schemeClr val="accent5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0.06s</a:t>
                </a:r>
                <a:endParaRPr lang="en-US" sz="1880" b="1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266950" y="2381250"/>
              <a:ext cx="1714500" cy="1257300"/>
              <a:chOff x="2266950" y="2381250"/>
              <a:chExt cx="1714500" cy="12573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2266950" y="2381250"/>
                <a:ext cx="1714500" cy="1257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652344" y="2565400"/>
                <a:ext cx="943712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720" b="1" dirty="0">
                    <a:solidFill>
                      <a:srgbClr val="0A0014"/>
                    </a:solidFill>
                    <a:latin typeface="+mn-lt"/>
                    <a:ea typeface="+mn-ea"/>
                    <a:cs typeface="+mn-cs"/>
                  </a:rPr>
                  <a:t>完美窗口</a:t>
                </a:r>
                <a:endParaRPr lang="zh-CN" sz="172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669029" y="2959100"/>
                <a:ext cx="910342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0A0014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0.12s</a:t>
                </a:r>
                <a:endParaRPr lang="en-US" sz="2250" b="1" dirty="0">
                  <a:solidFill>
                    <a:srgbClr val="0A0014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378296" y="3365500"/>
                <a:ext cx="149180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rgbClr val="0A0014"/>
                    </a:solidFill>
                    <a:latin typeface="+mn-lt"/>
                    <a:ea typeface="+mn-ea"/>
                    <a:cs typeface="+mn-cs"/>
                  </a:rPr>
                  <a:t>REFLECT / STAGGER</a:t>
                </a:r>
                <a:endParaRPr lang="en-US" sz="1120" b="1" dirty="0">
                  <a:solidFill>
                    <a:srgbClr val="0A0014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133850" y="2533650"/>
              <a:ext cx="1428750" cy="952500"/>
              <a:chOff x="4133850" y="2533650"/>
              <a:chExt cx="1428750" cy="952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133850" y="2533650"/>
                <a:ext cx="1428750" cy="952500"/>
              </a:xfrm>
              <a:prstGeom prst="rect">
                <a:avLst/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395597" y="2654300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普通窗口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467930" y="3009900"/>
                <a:ext cx="760591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80" b="1" dirty="0">
                    <a:solidFill>
                      <a:schemeClr val="accent2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0.18s</a:t>
                </a:r>
                <a:endParaRPr lang="en-US" sz="1880" b="1" dirty="0">
                  <a:solidFill>
                    <a:schemeClr val="accent2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715000" y="2533650"/>
              <a:ext cx="1428750" cy="952500"/>
              <a:chOff x="5715000" y="2533650"/>
              <a:chExt cx="1428750" cy="952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0" y="2533650"/>
                <a:ext cx="1428750" cy="952500"/>
              </a:xfrm>
              <a:prstGeom prst="rect">
                <a:avLst/>
              </a:prstGeom>
              <a:solidFill>
                <a:schemeClr val="l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6198870" y="2654300"/>
                <a:ext cx="4610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后摇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049080" y="3009900"/>
                <a:ext cx="760591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80" b="1" dirty="0">
                    <a:solidFill>
                      <a:schemeClr val="accent1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0.22s</a:t>
                </a:r>
                <a:endParaRPr lang="en-US" sz="1880" b="1" dirty="0">
                  <a:solidFill>
                    <a:schemeClr val="accent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678561" y="3765550"/>
              <a:ext cx="58448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格挡覆盖正面 120°；前后摇可移动和瞄准，但不能攻击或再次格挡。</a:t>
              </a:r>
              <a:endParaRPr lang="zh-CN" sz="14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8180" y="4089400"/>
              <a:ext cx="49453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完美格挡：反弹子弹 / 重硬直近战敌人 / 降低武器热量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impact-feedback"/>
          <p:cNvGrpSpPr/>
          <p:nvPr/>
        </p:nvGrpSpPr>
        <p:grpSpPr>
          <a:xfrm>
            <a:off x="8420100" y="2057400"/>
            <a:ext cx="2762250" cy="2133600"/>
            <a:chOff x="8420100" y="2057400"/>
            <a:chExt cx="2762250" cy="2133600"/>
          </a:xfrm>
        </p:grpSpPr>
        <p:sp>
          <p:nvSpPr>
            <p:cNvPr id="36" name="Ellipse 36"/>
            <p:cNvSpPr/>
            <p:nvPr/>
          </p:nvSpPr>
          <p:spPr>
            <a:xfrm>
              <a:off x="8724900" y="2057400"/>
              <a:ext cx="2133600" cy="2133600"/>
            </a:xfrm>
            <a:prstGeom prst="ellipse">
              <a:avLst/>
            </a:prstGeom>
            <a:noFill/>
            <a:ln w="28575">
              <a:solidFill>
                <a:schemeClr val="accent1">
                  <a:alpha val="35000"/>
                </a:schemeClr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9010650" y="2343150"/>
              <a:ext cx="1562100" cy="1562100"/>
            </a:xfrm>
            <a:prstGeom prst="ellipse">
              <a:avLst/>
            </a:prstGeom>
            <a:noFill/>
            <a:ln w="47625">
              <a:solidFill>
                <a:schemeClr val="accent2">
                  <a:alpha val="65000"/>
                </a:schemeClr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9296400" y="2628900"/>
              <a:ext cx="990600" cy="990600"/>
            </a:xfrm>
            <a:prstGeom prst="ellipse">
              <a:avLst/>
            </a:prstGeom>
            <a:solidFill>
              <a:schemeClr val="accent3">
                <a:alpha val="14000"/>
              </a:schemeClr>
            </a:solidFill>
            <a:ln w="38100">
              <a:solidFill>
                <a:schemeClr val="accent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8420100" y="2495550"/>
              <a:ext cx="1123950" cy="514350"/>
            </a:xfrm>
            <a:custGeom>
              <a:avLst/>
              <a:gdLst/>
              <a:ahLst/>
              <a:cxnLst/>
              <a:rect l="l" t="t" r="r" b="b"/>
              <a:pathLst>
                <a:path w="1123950" h="514350">
                  <a:moveTo>
                    <a:pt x="0" y="0"/>
                  </a:moveTo>
                  <a:lnTo>
                    <a:pt x="1123950" y="514350"/>
                  </a:lnTo>
                </a:path>
              </a:pathLst>
            </a:custGeom>
            <a:noFill/>
            <a:ln w="66675">
              <a:solidFill>
                <a:srgbClr val="FF0033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9410700" y="2867025"/>
              <a:ext cx="190500" cy="171450"/>
            </a:xfrm>
            <a:custGeom>
              <a:avLst/>
              <a:gdLst/>
              <a:ahLst/>
              <a:cxnLst/>
              <a:rect l="l" t="t" r="r" b="b"/>
              <a:pathLst>
                <a:path w="190500" h="171450">
                  <a:moveTo>
                    <a:pt x="190500" y="171450"/>
                  </a:moveTo>
                  <a:lnTo>
                    <a:pt x="0" y="161925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F0033"/>
            </a:soli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9925050" y="2400300"/>
              <a:ext cx="1200150" cy="609600"/>
            </a:xfrm>
            <a:custGeom>
              <a:avLst/>
              <a:gdLst/>
              <a:ahLst/>
              <a:cxnLst/>
              <a:rect l="l" t="t" r="r" b="b"/>
              <a:pathLst>
                <a:path w="1200150" h="609600">
                  <a:moveTo>
                    <a:pt x="0" y="609600"/>
                  </a:moveTo>
                  <a:lnTo>
                    <a:pt x="1200150" y="0"/>
                  </a:lnTo>
                </a:path>
              </a:pathLst>
            </a:custGeom>
            <a:noFill/>
            <a:ln w="66675">
              <a:solidFill>
                <a:schemeClr val="accent2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10972800" y="2362200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>
                  <a:moveTo>
                    <a:pt x="209550" y="9525"/>
                  </a:moveTo>
                  <a:lnTo>
                    <a:pt x="76200" y="171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177277" y="2955925"/>
              <a:ext cx="1228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PERFECT</a:t>
              </a:r>
              <a:endParaRPr lang="en-US" sz="2100" b="1" dirty="0">
                <a:solidFill>
                  <a:schemeClr val="accent3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53" name="feedback-list"/>
          <p:cNvGrpSpPr/>
          <p:nvPr/>
        </p:nvGrpSpPr>
        <p:grpSpPr>
          <a:xfrm>
            <a:off x="666750" y="4857750"/>
            <a:ext cx="10706100" cy="938657"/>
            <a:chOff x="666750" y="4857750"/>
            <a:chExt cx="10706100" cy="938657"/>
          </a:xfrm>
        </p:grpSpPr>
        <p:sp>
          <p:nvSpPr>
            <p:cNvPr id="45" name="Line 45"/>
            <p:cNvSpPr/>
            <p:nvPr/>
          </p:nvSpPr>
          <p:spPr>
            <a:xfrm>
              <a:off x="666750" y="4857750"/>
              <a:ext cx="10706100" cy="9525"/>
            </a:xfrm>
            <a:custGeom>
              <a:avLst/>
              <a:gdLst/>
              <a:ahLst/>
              <a:cxnLst/>
              <a:rect l="l" t="t" r="r" b="b"/>
              <a:pathLst>
                <a:path w="10706100" h="9525">
                  <a:moveTo>
                    <a:pt x="0" y="0"/>
                  </a:moveTo>
                  <a:lnTo>
                    <a:pt x="107061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79704" y="5086350"/>
              <a:ext cx="10156424" cy="234696"/>
              <a:chOff x="679704" y="5086350"/>
              <a:chExt cx="10156424" cy="234696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679704" y="5086350"/>
                <a:ext cx="150105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01 0.05s FREEZE</a:t>
                </a:r>
                <a:endParaRPr lang="en-US" sz="1200" b="1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965704" y="5086350"/>
                <a:ext cx="14125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02 WHITE FLASH</a:t>
                </a:r>
                <a:endParaRPr lang="en-US" sz="1200" b="1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51704" y="5086350"/>
                <a:ext cx="12124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03 METAL HIT</a:t>
                </a:r>
                <a:endParaRPr lang="en-US" sz="1200" b="1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537704" y="5086350"/>
                <a:ext cx="15125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04 CAMERA SHAKE</a:t>
                </a:r>
                <a:endParaRPr lang="en-US" sz="1200" b="1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823704" y="5086350"/>
                <a:ext cx="10124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05 PITCH ↑</a:t>
                </a:r>
                <a:endParaRPr lang="en-US" sz="1200" b="1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677418" y="5473700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高评级额外奖励完美格挡次数，不因低评级削减基础收益。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hrome"/>
          <p:cNvGrpSpPr/>
          <p:nvPr/>
        </p:nvGrpSpPr>
        <p:grpSpPr>
          <a:xfrm>
            <a:off x="323850" y="304800"/>
            <a:ext cx="11544300" cy="6249543"/>
            <a:chOff x="323850" y="304800"/>
            <a:chExt cx="11544300" cy="6249543"/>
          </a:xfrm>
        </p:grpSpPr>
        <p:sp>
          <p:nvSpPr>
            <p:cNvPr id="2" name="Freeform 2"/>
            <p:cNvSpPr/>
            <p:nvPr/>
          </p:nvSpPr>
          <p:spPr>
            <a:xfrm>
              <a:off x="323850" y="304800"/>
              <a:ext cx="11544300" cy="6248400"/>
            </a:xfrm>
            <a:custGeom>
              <a:avLst/>
              <a:gdLst/>
              <a:ahLst/>
              <a:cxnLst/>
              <a:rect l="l" t="t" r="r" b="b"/>
              <a:pathLst>
                <a:path w="11544300" h="6248400">
                  <a:moveTo>
                    <a:pt x="0" y="400050"/>
                  </a:moveTo>
                  <a:lnTo>
                    <a:pt x="0" y="0"/>
                  </a:lnTo>
                  <a:lnTo>
                    <a:pt x="552450" y="0"/>
                  </a:lnTo>
                  <a:moveTo>
                    <a:pt x="10991850" y="0"/>
                  </a:moveTo>
                  <a:lnTo>
                    <a:pt x="11544300" y="0"/>
                  </a:lnTo>
                  <a:lnTo>
                    <a:pt x="11544300" y="400050"/>
                  </a:lnTo>
                  <a:moveTo>
                    <a:pt x="0" y="5848350"/>
                  </a:moveTo>
                  <a:lnTo>
                    <a:pt x="0" y="6248400"/>
                  </a:lnTo>
                  <a:lnTo>
                    <a:pt x="552450" y="6248400"/>
                  </a:lnTo>
                  <a:moveTo>
                    <a:pt x="10991850" y="6248400"/>
                  </a:moveTo>
                  <a:lnTo>
                    <a:pt x="11544300" y="6248400"/>
                  </a:lnTo>
                  <a:lnTo>
                    <a:pt x="11544300" y="5848350"/>
                  </a:lnTo>
                </a:path>
              </a:pathLst>
            </a:custGeom>
            <a:noFill/>
            <a:ln w="19050">
              <a:solidFill>
                <a:schemeClr val="accent2">
                  <a:alpha val="65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10810875" y="447675"/>
              <a:ext cx="133350" cy="133350"/>
            </a:xfrm>
            <a:prstGeom prst="ellipse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43285" y="431800"/>
              <a:ext cx="33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REC</a:t>
              </a:r>
              <a:endParaRPr lang="en-US" sz="1120" b="1" spc="150" dirty="0">
                <a:solidFill>
                  <a:schemeClr val="dk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7116" y="444500"/>
              <a:ext cx="20576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06 / LOADOUT SYSTEM</a:t>
              </a:r>
              <a:endParaRPr lang="en-US" sz="1050" spc="1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901047" y="6362700"/>
              <a:ext cx="8603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00:02:42:18</a:t>
              </a:r>
              <a:endParaRPr lang="zh-CN" sz="98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  <p:grpSp>
        <p:nvGrpSpPr>
          <p:cNvPr id="12" name="heading"/>
          <p:cNvGrpSpPr/>
          <p:nvPr/>
        </p:nvGrpSpPr>
        <p:grpSpPr>
          <a:xfrm>
            <a:off x="593598" y="971550"/>
            <a:ext cx="10882884" cy="616077"/>
            <a:chOff x="593598" y="971550"/>
            <a:chExt cx="10882884" cy="616077"/>
          </a:xfrm>
        </p:grpSpPr>
        <p:sp>
          <p:nvSpPr>
            <p:cNvPr id="8" name="TextBox 8"/>
            <p:cNvSpPr txBox="1"/>
            <p:nvPr/>
          </p:nvSpPr>
          <p:spPr>
            <a:xfrm>
              <a:off x="593598" y="971550"/>
              <a:ext cx="34244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组件、背包与黑匣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1504950"/>
              <a:ext cx="7810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466850" y="1504950"/>
              <a:ext cx="3238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72119" y="1149350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保命，还是保住一件战利品？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active-slots"/>
          <p:cNvGrpSpPr/>
          <p:nvPr/>
        </p:nvGrpSpPr>
        <p:grpSpPr>
          <a:xfrm>
            <a:off x="438150" y="2089150"/>
            <a:ext cx="3124200" cy="2940050"/>
            <a:chOff x="438150" y="2089150"/>
            <a:chExt cx="3124200" cy="2940050"/>
          </a:xfrm>
        </p:grpSpPr>
        <p:sp>
          <p:nvSpPr>
            <p:cNvPr id="13" name="TextBox 13"/>
            <p:cNvSpPr txBox="1"/>
            <p:nvPr/>
          </p:nvSpPr>
          <p:spPr>
            <a:xfrm>
              <a:off x="622935" y="2089150"/>
              <a:ext cx="20652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ACTIVE LOADOUT / FIXED</a:t>
              </a:r>
              <a:endParaRPr lang="en-US" sz="112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14" name="Polygon 14"/>
            <p:cNvSpPr/>
            <p:nvPr/>
          </p:nvSpPr>
          <p:spPr>
            <a:xfrm>
              <a:off x="438150" y="2476500"/>
              <a:ext cx="3124200" cy="762000"/>
            </a:xfrm>
            <a:custGeom>
              <a:avLst/>
              <a:gdLst/>
              <a:ahLst/>
              <a:cxnLst/>
              <a:rect l="l" t="t" r="r" b="b"/>
              <a:pathLst>
                <a:path w="3124200" h="762000">
                  <a:moveTo>
                    <a:pt x="247650" y="0"/>
                  </a:moveTo>
                  <a:lnTo>
                    <a:pt x="2876550" y="0"/>
                  </a:lnTo>
                  <a:lnTo>
                    <a:pt x="3124200" y="381000"/>
                  </a:lnTo>
                  <a:lnTo>
                    <a:pt x="2876550" y="762000"/>
                  </a:lnTo>
                  <a:lnTo>
                    <a:pt x="247650" y="762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86206" y="25844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武器槽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9254" y="2914650"/>
              <a:ext cx="16760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攻击方式 / 热量 / 词条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Polygon 17"/>
            <p:cNvSpPr/>
            <p:nvPr/>
          </p:nvSpPr>
          <p:spPr>
            <a:xfrm>
              <a:off x="438150" y="3371850"/>
              <a:ext cx="3124200" cy="762000"/>
            </a:xfrm>
            <a:custGeom>
              <a:avLst/>
              <a:gdLst/>
              <a:ahLst/>
              <a:cxnLst/>
              <a:rect l="l" t="t" r="r" b="b"/>
              <a:pathLst>
                <a:path w="3124200" h="762000">
                  <a:moveTo>
                    <a:pt x="247650" y="0"/>
                  </a:moveTo>
                  <a:lnTo>
                    <a:pt x="2876550" y="0"/>
                  </a:lnTo>
                  <a:lnTo>
                    <a:pt x="3124200" y="381000"/>
                  </a:lnTo>
                  <a:lnTo>
                    <a:pt x="2876550" y="762000"/>
                  </a:lnTo>
                  <a:lnTo>
                    <a:pt x="247650" y="762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6206" y="347980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机动槽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9254" y="381000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冲刺 / 位移 / 生存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Polygon 20"/>
            <p:cNvSpPr/>
            <p:nvPr/>
          </p:nvSpPr>
          <p:spPr>
            <a:xfrm>
              <a:off x="438150" y="4267200"/>
              <a:ext cx="3124200" cy="762000"/>
            </a:xfrm>
            <a:custGeom>
              <a:avLst/>
              <a:gdLst/>
              <a:ahLst/>
              <a:cxnLst/>
              <a:rect l="l" t="t" r="r" b="b"/>
              <a:pathLst>
                <a:path w="3124200" h="762000">
                  <a:moveTo>
                    <a:pt x="247650" y="0"/>
                  </a:moveTo>
                  <a:lnTo>
                    <a:pt x="2876550" y="0"/>
                  </a:lnTo>
                  <a:lnTo>
                    <a:pt x="3124200" y="381000"/>
                  </a:lnTo>
                  <a:lnTo>
                    <a:pt x="2876550" y="762000"/>
                  </a:lnTo>
                  <a:lnTo>
                    <a:pt x="247650" y="762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206" y="437515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天赋核心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9254" y="47053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决定本局流派，不占背包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backpack"/>
          <p:cNvGrpSpPr/>
          <p:nvPr/>
        </p:nvGrpSpPr>
        <p:grpSpPr>
          <a:xfrm>
            <a:off x="4051935" y="2089150"/>
            <a:ext cx="3549015" cy="2940050"/>
            <a:chOff x="4051935" y="2089150"/>
            <a:chExt cx="3549015" cy="2940050"/>
          </a:xfrm>
        </p:grpSpPr>
        <p:sp>
          <p:nvSpPr>
            <p:cNvPr id="24" name="TextBox 24"/>
            <p:cNvSpPr txBox="1"/>
            <p:nvPr/>
          </p:nvSpPr>
          <p:spPr>
            <a:xfrm>
              <a:off x="4051935" y="2089150"/>
              <a:ext cx="16918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BACKPACK / 6 SLOTS</a:t>
              </a:r>
              <a:endParaRPr lang="en-US" sz="112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57650" y="2476500"/>
              <a:ext cx="3543300" cy="2552700"/>
            </a:xfrm>
            <a:prstGeom prst="rect">
              <a:avLst/>
            </a:prstGeom>
            <a:solidFill>
              <a:schemeClr val="lt2"/>
            </a:solidFill>
            <a:ln w="28575">
              <a:solidFill>
                <a:schemeClr val="accent6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286250" y="2724150"/>
              <a:ext cx="3086100" cy="1866900"/>
              <a:chOff x="4286250" y="2724150"/>
              <a:chExt cx="3086100" cy="18669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286250" y="2724150"/>
                <a:ext cx="914400" cy="838200"/>
              </a:xfrm>
              <a:prstGeom prst="rect">
                <a:avLst/>
              </a:prstGeom>
              <a:solidFill>
                <a:schemeClr val="l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504348" y="3060700"/>
                <a:ext cx="4782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1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WPN-A</a:t>
                </a:r>
                <a:endParaRPr lang="en-US" sz="1120" b="1" dirty="0">
                  <a:solidFill>
                    <a:schemeClr val="accent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5372100" y="2724150"/>
                <a:ext cx="914400" cy="838200"/>
              </a:xfrm>
              <a:prstGeom prst="rect">
                <a:avLst/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543520" y="3060700"/>
                <a:ext cx="5715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2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MOVE-B</a:t>
                </a:r>
                <a:endParaRPr lang="en-US" sz="1120" b="1" dirty="0">
                  <a:solidFill>
                    <a:schemeClr val="accent2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457950" y="2724150"/>
                <a:ext cx="914400" cy="838200"/>
              </a:xfrm>
              <a:prstGeom prst="rect">
                <a:avLst/>
              </a:pr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676048" y="3060700"/>
                <a:ext cx="47820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3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WPN-C</a:t>
                </a:r>
                <a:endParaRPr lang="en-US" sz="1120" b="1" dirty="0">
                  <a:solidFill>
                    <a:schemeClr val="accent3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4286250" y="3752850"/>
                <a:ext cx="914400" cy="838200"/>
              </a:xfrm>
              <a:prstGeom prst="rect">
                <a:avLst/>
              </a:prstGeom>
              <a:solidFill>
                <a:schemeClr val="lt1"/>
              </a:solidFill>
              <a:ln w="19050">
                <a:solidFill>
                  <a:schemeClr val="accent6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649381" y="4089400"/>
                <a:ext cx="1881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5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04</a:t>
                </a:r>
                <a:endParaRPr lang="zh-CN" sz="1120" b="1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372100" y="3752850"/>
                <a:ext cx="914400" cy="838200"/>
              </a:xfrm>
              <a:prstGeom prst="rect">
                <a:avLst/>
              </a:prstGeom>
              <a:solidFill>
                <a:schemeClr val="lt1"/>
              </a:solidFill>
              <a:ln w="19050">
                <a:solidFill>
                  <a:schemeClr val="accent6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735231" y="4089400"/>
                <a:ext cx="1881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5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05</a:t>
                </a:r>
                <a:endParaRPr lang="zh-CN" sz="1120" b="1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457950" y="3752850"/>
                <a:ext cx="914400" cy="838200"/>
              </a:xfrm>
              <a:prstGeom prst="rect">
                <a:avLst/>
              </a:prstGeom>
              <a:solidFill>
                <a:schemeClr val="lt1"/>
              </a:solidFill>
              <a:ln w="19050">
                <a:solidFill>
                  <a:schemeClr val="accent6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821081" y="4089400"/>
                <a:ext cx="18813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0" b="1" dirty="0">
                    <a:solidFill>
                      <a:schemeClr val="accent5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06</a:t>
                </a:r>
                <a:endParaRPr lang="zh-CN" sz="1120" b="1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4748936" y="472440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仅在清场后 / 电梯 / 基地整理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blackbox"/>
          <p:cNvGrpSpPr/>
          <p:nvPr/>
        </p:nvGrpSpPr>
        <p:grpSpPr>
          <a:xfrm>
            <a:off x="7981950" y="2089150"/>
            <a:ext cx="3409950" cy="2940050"/>
            <a:chOff x="7981950" y="2089150"/>
            <a:chExt cx="3409950" cy="2940050"/>
          </a:xfrm>
        </p:grpSpPr>
        <p:sp>
          <p:nvSpPr>
            <p:cNvPr id="41" name="TextBox 41"/>
            <p:cNvSpPr txBox="1"/>
            <p:nvPr/>
          </p:nvSpPr>
          <p:spPr>
            <a:xfrm>
              <a:off x="8033385" y="2089150"/>
              <a:ext cx="16918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BLACK BOX / 1 SLOT</a:t>
              </a:r>
              <a:endParaRPr lang="en-US" sz="112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42" name="Polygon 42"/>
            <p:cNvSpPr/>
            <p:nvPr/>
          </p:nvSpPr>
          <p:spPr>
            <a:xfrm>
              <a:off x="7981950" y="2476500"/>
              <a:ext cx="3409950" cy="2552700"/>
            </a:xfrm>
            <a:custGeom>
              <a:avLst/>
              <a:gdLst/>
              <a:ahLst/>
              <a:cxnLst/>
              <a:rect l="l" t="t" r="r" b="b"/>
              <a:pathLst>
                <a:path w="3409950" h="2552700">
                  <a:moveTo>
                    <a:pt x="247650" y="0"/>
                  </a:moveTo>
                  <a:lnTo>
                    <a:pt x="3162300" y="0"/>
                  </a:lnTo>
                  <a:lnTo>
                    <a:pt x="3409950" y="247650"/>
                  </a:lnTo>
                  <a:lnTo>
                    <a:pt x="3409950" y="2286000"/>
                  </a:lnTo>
                  <a:lnTo>
                    <a:pt x="3162300" y="2552700"/>
                  </a:lnTo>
                  <a:lnTo>
                    <a:pt x="247650" y="2552700"/>
                  </a:lnTo>
                  <a:lnTo>
                    <a:pt x="0" y="228600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71991" y="26797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二选一策略</a:t>
              </a:r>
              <a:endParaRPr lang="zh-CN" sz="18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286750" y="3143250"/>
              <a:ext cx="2800350" cy="590550"/>
            </a:xfrm>
            <a:prstGeom prst="rect">
              <a:avLst/>
            </a:prstGeom>
            <a:solidFill>
              <a:schemeClr val="accent3">
                <a:alpha val="14000"/>
              </a:schemeClr>
            </a:solidFill>
            <a:ln w="19050">
              <a:solidFill>
                <a:schemeClr val="accent3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0580" y="32321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装入断路保险核心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52104" y="3486150"/>
              <a:ext cx="2173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致命伤时保留 1 HP，本局一次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80806" y="3867150"/>
              <a:ext cx="2122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OR</a:t>
              </a:r>
              <a:endParaRPr lang="en-US" sz="1200" b="1" dirty="0">
                <a:solidFill>
                  <a:schemeClr val="accent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286750" y="4210050"/>
              <a:ext cx="2800350" cy="5905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50580" y="42989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保护一件普通组件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52104" y="45529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死亡后仍带回仓库，但失去保险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synthesis"/>
          <p:cNvGrpSpPr/>
          <p:nvPr/>
        </p:nvGrpSpPr>
        <p:grpSpPr>
          <a:xfrm>
            <a:off x="666750" y="5429250"/>
            <a:ext cx="10687050" cy="537718"/>
            <a:chOff x="666750" y="5429250"/>
            <a:chExt cx="10687050" cy="537718"/>
          </a:xfrm>
        </p:grpSpPr>
        <p:sp>
          <p:nvSpPr>
            <p:cNvPr id="52" name="Line 52"/>
            <p:cNvSpPr/>
            <p:nvPr/>
          </p:nvSpPr>
          <p:spPr>
            <a:xfrm>
              <a:off x="666750" y="5429250"/>
              <a:ext cx="10687050" cy="9525"/>
            </a:xfrm>
            <a:custGeom>
              <a:avLst/>
              <a:gdLst/>
              <a:ahLst/>
              <a:cxnLst/>
              <a:rect l="l" t="t" r="r" b="b"/>
              <a:pathLst>
                <a:path w="10687050" h="9525">
                  <a:moveTo>
                    <a:pt x="0" y="0"/>
                  </a:moveTo>
                  <a:lnTo>
                    <a:pt x="1068705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7418" y="56070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同槽同品质组件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770632" y="555625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＋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134868" y="56070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合成升阶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23232" y="555625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63668" y="56070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同名词条取最高值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66432" y="5556250"/>
              <a:ext cx="30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＋</a:t>
              </a:r>
              <a:endPara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87818" y="5607050"/>
              <a:ext cx="18981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新品质词条上限 +1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hrome"/>
          <p:cNvGrpSpPr/>
          <p:nvPr/>
        </p:nvGrpSpPr>
        <p:grpSpPr>
          <a:xfrm>
            <a:off x="323850" y="304800"/>
            <a:ext cx="11544300" cy="6249543"/>
            <a:chOff x="323850" y="304800"/>
            <a:chExt cx="11544300" cy="6249543"/>
          </a:xfrm>
        </p:grpSpPr>
        <p:sp>
          <p:nvSpPr>
            <p:cNvPr id="2" name="Freeform 2"/>
            <p:cNvSpPr/>
            <p:nvPr/>
          </p:nvSpPr>
          <p:spPr>
            <a:xfrm>
              <a:off x="323850" y="304800"/>
              <a:ext cx="11544300" cy="6248400"/>
            </a:xfrm>
            <a:custGeom>
              <a:avLst/>
              <a:gdLst/>
              <a:ahLst/>
              <a:cxnLst/>
              <a:rect l="l" t="t" r="r" b="b"/>
              <a:pathLst>
                <a:path w="11544300" h="6248400">
                  <a:moveTo>
                    <a:pt x="0" y="400050"/>
                  </a:moveTo>
                  <a:lnTo>
                    <a:pt x="0" y="0"/>
                  </a:lnTo>
                  <a:lnTo>
                    <a:pt x="552450" y="0"/>
                  </a:lnTo>
                  <a:moveTo>
                    <a:pt x="10991850" y="0"/>
                  </a:moveTo>
                  <a:lnTo>
                    <a:pt x="11544300" y="0"/>
                  </a:lnTo>
                  <a:lnTo>
                    <a:pt x="11544300" y="400050"/>
                  </a:lnTo>
                  <a:moveTo>
                    <a:pt x="0" y="5848350"/>
                  </a:moveTo>
                  <a:lnTo>
                    <a:pt x="0" y="6248400"/>
                  </a:lnTo>
                  <a:lnTo>
                    <a:pt x="552450" y="6248400"/>
                  </a:lnTo>
                  <a:moveTo>
                    <a:pt x="10991850" y="6248400"/>
                  </a:moveTo>
                  <a:lnTo>
                    <a:pt x="11544300" y="6248400"/>
                  </a:lnTo>
                  <a:lnTo>
                    <a:pt x="11544300" y="5848350"/>
                  </a:lnTo>
                </a:path>
              </a:pathLst>
            </a:custGeom>
            <a:noFill/>
            <a:ln w="19050">
              <a:solidFill>
                <a:schemeClr val="accent2">
                  <a:alpha val="65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10810875" y="447675"/>
              <a:ext cx="133350" cy="133350"/>
            </a:xfrm>
            <a:prstGeom prst="ellipse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43285" y="431800"/>
              <a:ext cx="33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REC</a:t>
              </a:r>
              <a:endParaRPr lang="en-US" sz="1120" b="1" spc="150" dirty="0">
                <a:solidFill>
                  <a:schemeClr val="dk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7116" y="444500"/>
              <a:ext cx="22753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07 / FLOOR GENERATION</a:t>
              </a:r>
              <a:endParaRPr lang="en-US" sz="1050" spc="1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901047" y="6362700"/>
              <a:ext cx="8603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00:03:14:09</a:t>
              </a:r>
              <a:endParaRPr lang="zh-CN" sz="98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  <p:grpSp>
        <p:nvGrpSpPr>
          <p:cNvPr id="12" name="heading"/>
          <p:cNvGrpSpPr/>
          <p:nvPr/>
        </p:nvGrpSpPr>
        <p:grpSpPr>
          <a:xfrm>
            <a:off x="593598" y="971550"/>
            <a:ext cx="10882884" cy="616077"/>
            <a:chOff x="593598" y="971550"/>
            <a:chExt cx="10882884" cy="616077"/>
          </a:xfrm>
        </p:grpSpPr>
        <p:sp>
          <p:nvSpPr>
            <p:cNvPr id="8" name="TextBox 8"/>
            <p:cNvSpPr txBox="1"/>
            <p:nvPr/>
          </p:nvSpPr>
          <p:spPr>
            <a:xfrm>
              <a:off x="593598" y="971550"/>
              <a:ext cx="300037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楼层与随机内容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1504950"/>
              <a:ext cx="7810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466850" y="1504950"/>
              <a:ext cx="3238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27873" y="114935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单层无缝，电梯换层，模板组合。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building"/>
          <p:cNvGrpSpPr/>
          <p:nvPr/>
        </p:nvGrpSpPr>
        <p:grpSpPr>
          <a:xfrm>
            <a:off x="680085" y="2070100"/>
            <a:ext cx="4825365" cy="3759200"/>
            <a:chOff x="680085" y="2070100"/>
            <a:chExt cx="4825365" cy="3759200"/>
          </a:xfrm>
        </p:grpSpPr>
        <p:sp>
          <p:nvSpPr>
            <p:cNvPr id="13" name="TextBox 13"/>
            <p:cNvSpPr txBox="1"/>
            <p:nvPr/>
          </p:nvSpPr>
          <p:spPr>
            <a:xfrm>
              <a:off x="680085" y="2070100"/>
              <a:ext cx="25320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BUILDING SECTION / 4 FLOORS</a:t>
              </a:r>
              <a:endParaRPr lang="en-US" sz="112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85800" y="2457450"/>
              <a:ext cx="4819650" cy="3371850"/>
            </a:xfrm>
            <a:prstGeom prst="rect">
              <a:avLst/>
            </a:prstGeom>
            <a:solidFill>
              <a:schemeClr val="lt2"/>
            </a:solidFill>
            <a:ln w="28575">
              <a:solidFill>
                <a:schemeClr val="accent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90600" y="2705100"/>
              <a:ext cx="3467100" cy="590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990600" y="3467100"/>
              <a:ext cx="3467100" cy="590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90600" y="4229100"/>
              <a:ext cx="3467100" cy="590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90600" y="4991100"/>
              <a:ext cx="3467100" cy="59055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175004" y="2914650"/>
              <a:ext cx="2792370" cy="2520696"/>
              <a:chOff x="1175004" y="2914650"/>
              <a:chExt cx="2792370" cy="2520696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175004" y="2914650"/>
                <a:ext cx="212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F4</a:t>
                </a:r>
                <a:endParaRPr lang="en-US" sz="1200" b="1" dirty="0">
                  <a:solidFill>
                    <a:schemeClr val="accent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27454" y="2914650"/>
                <a:ext cx="696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Cascadia Mono" panose="020B0609020000020004"/>
                    <a:ea typeface="微软雅黑" panose="020B0503020204020204" charset="-122"/>
                    <a:cs typeface="Cascadia Mono" panose="020B0609020000020004"/>
                  </a:rPr>
                  <a:t>战斗区 A</a:t>
                </a:r>
                <a:endParaRPr lang="zh-CN" sz="1200" b="1" dirty="0">
                  <a:solidFill>
                    <a:schemeClr val="dk1"/>
                  </a:solidFill>
                  <a:latin typeface="Cascadia Mono" panose="020B0609020000020004"/>
                  <a:ea typeface="微软雅黑" panose="020B0503020204020204" charset="-122"/>
                  <a:cs typeface="Cascadia Mono" panose="020B06090200000200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70504" y="2914650"/>
                <a:ext cx="696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Cascadia Mono" panose="020B0609020000020004"/>
                    <a:ea typeface="微软雅黑" panose="020B0503020204020204" charset="-122"/>
                    <a:cs typeface="Cascadia Mono" panose="020B0609020000020004"/>
                  </a:rPr>
                  <a:t>战斗区 B</a:t>
                </a:r>
                <a:endParaRPr lang="zh-CN" sz="1200" b="1" dirty="0">
                  <a:solidFill>
                    <a:schemeClr val="dk1"/>
                  </a:solidFill>
                  <a:latin typeface="Cascadia Mono" panose="020B0609020000020004"/>
                  <a:ea typeface="微软雅黑" panose="020B0503020204020204" charset="-122"/>
                  <a:cs typeface="Cascadia Mono" panose="020B06090200000200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75004" y="3676650"/>
                <a:ext cx="212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2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F3</a:t>
                </a:r>
                <a:endParaRPr lang="en-US" sz="1200" b="1" dirty="0">
                  <a:solidFill>
                    <a:schemeClr val="accent2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727454" y="3676650"/>
                <a:ext cx="696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Cascadia Mono" panose="020B0609020000020004"/>
                    <a:ea typeface="微软雅黑" panose="020B0503020204020204" charset="-122"/>
                    <a:cs typeface="Cascadia Mono" panose="020B0609020000020004"/>
                  </a:rPr>
                  <a:t>战斗区 A</a:t>
                </a:r>
                <a:endParaRPr lang="zh-CN" sz="1200" b="1" dirty="0">
                  <a:solidFill>
                    <a:schemeClr val="dk1"/>
                  </a:solidFill>
                  <a:latin typeface="Cascadia Mono" panose="020B0609020000020004"/>
                  <a:ea typeface="微软雅黑" panose="020B0503020204020204" charset="-122"/>
                  <a:cs typeface="Cascadia Mono" panose="020B06090200000200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270504" y="3676650"/>
                <a:ext cx="696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Cascadia Mono" panose="020B0609020000020004"/>
                    <a:ea typeface="微软雅黑" panose="020B0503020204020204" charset="-122"/>
                    <a:cs typeface="Cascadia Mono" panose="020B0609020000020004"/>
                  </a:rPr>
                  <a:t>战斗区 B</a:t>
                </a:r>
                <a:endParaRPr lang="zh-CN" sz="1200" b="1" dirty="0">
                  <a:solidFill>
                    <a:schemeClr val="dk1"/>
                  </a:solidFill>
                  <a:latin typeface="Cascadia Mono" panose="020B0609020000020004"/>
                  <a:ea typeface="微软雅黑" panose="020B0503020204020204" charset="-122"/>
                  <a:cs typeface="Cascadia Mono" panose="020B06090200000200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75004" y="4438650"/>
                <a:ext cx="212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6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F2</a:t>
                </a:r>
                <a:endParaRPr lang="en-US" sz="1200" b="1" dirty="0">
                  <a:solidFill>
                    <a:schemeClr val="accent6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27454" y="4438650"/>
                <a:ext cx="696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Cascadia Mono" panose="020B0609020000020004"/>
                    <a:ea typeface="微软雅黑" panose="020B0503020204020204" charset="-122"/>
                    <a:cs typeface="Cascadia Mono" panose="020B0609020000020004"/>
                  </a:rPr>
                  <a:t>战斗区 A</a:t>
                </a:r>
                <a:endParaRPr lang="zh-CN" sz="1200" b="1" dirty="0">
                  <a:solidFill>
                    <a:schemeClr val="dk1"/>
                  </a:solidFill>
                  <a:latin typeface="Cascadia Mono" panose="020B0609020000020004"/>
                  <a:ea typeface="微软雅黑" panose="020B0503020204020204" charset="-122"/>
                  <a:cs typeface="Cascadia Mono" panose="020B06090200000200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270504" y="4438650"/>
                <a:ext cx="696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Cascadia Mono" panose="020B0609020000020004"/>
                    <a:ea typeface="微软雅黑" panose="020B0503020204020204" charset="-122"/>
                    <a:cs typeface="Cascadia Mono" panose="020B0609020000020004"/>
                  </a:rPr>
                  <a:t>战斗区 B</a:t>
                </a:r>
                <a:endParaRPr lang="zh-CN" sz="1200" b="1" dirty="0">
                  <a:solidFill>
                    <a:schemeClr val="dk1"/>
                  </a:solidFill>
                  <a:latin typeface="Cascadia Mono" panose="020B0609020000020004"/>
                  <a:ea typeface="微软雅黑" panose="020B0503020204020204" charset="-122"/>
                  <a:cs typeface="Cascadia Mono" panose="020B06090200000200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5004" y="5200650"/>
                <a:ext cx="2122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3"/>
                    </a:solidFill>
                    <a:latin typeface="Cascadia Mono" panose="020B0609020000020004"/>
                    <a:ea typeface="Cascadia Mono" panose="020B0609020000020004"/>
                    <a:cs typeface="Cascadia Mono" panose="020B0609020000020004"/>
                  </a:rPr>
                  <a:t>F1</a:t>
                </a:r>
                <a:endParaRPr lang="en-US" sz="1200" b="1" dirty="0">
                  <a:solidFill>
                    <a:schemeClr val="accent3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727454" y="5200650"/>
                <a:ext cx="696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Cascadia Mono" panose="020B0609020000020004"/>
                    <a:ea typeface="微软雅黑" panose="020B0503020204020204" charset="-122"/>
                    <a:cs typeface="Cascadia Mono" panose="020B0609020000020004"/>
                  </a:rPr>
                  <a:t>战斗区 A</a:t>
                </a:r>
                <a:endParaRPr lang="zh-CN" sz="1200" b="1" dirty="0">
                  <a:solidFill>
                    <a:schemeClr val="dk1"/>
                  </a:solidFill>
                  <a:latin typeface="Cascadia Mono" panose="020B0609020000020004"/>
                  <a:ea typeface="微软雅黑" panose="020B0503020204020204" charset="-122"/>
                  <a:cs typeface="Cascadia Mono" panose="020B06090200000200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270504" y="5200650"/>
                <a:ext cx="6968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dk1"/>
                    </a:solidFill>
                    <a:latin typeface="Cascadia Mono" panose="020B0609020000020004"/>
                    <a:ea typeface="微软雅黑" panose="020B0503020204020204" charset="-122"/>
                    <a:cs typeface="Cascadia Mono" panose="020B0609020000020004"/>
                  </a:rPr>
                  <a:t>战斗区 B</a:t>
                </a:r>
                <a:endParaRPr lang="zh-CN" sz="1200" b="1" dirty="0">
                  <a:solidFill>
                    <a:schemeClr val="dk1"/>
                  </a:solidFill>
                  <a:latin typeface="Cascadia Mono" panose="020B0609020000020004"/>
                  <a:ea typeface="微软雅黑" panose="020B0503020204020204" charset="-122"/>
                  <a:cs typeface="Cascadia Mono" panose="020B0609020000020004"/>
                </a:endParaRPr>
              </a:p>
            </p:txBody>
          </p:sp>
        </p:grpSp>
        <p:sp>
          <p:nvSpPr>
            <p:cNvPr id="32" name="Rectangle 32"/>
            <p:cNvSpPr/>
            <p:nvPr/>
          </p:nvSpPr>
          <p:spPr>
            <a:xfrm>
              <a:off x="4762500" y="2705100"/>
              <a:ext cx="438150" cy="28765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981575" y="2971800"/>
              <a:ext cx="9525" cy="2343150"/>
            </a:xfrm>
            <a:custGeom>
              <a:avLst/>
              <a:gdLst/>
              <a:ahLst/>
              <a:cxnLst/>
              <a:rect l="l" t="t" r="r" b="b"/>
              <a:pathLst>
                <a:path w="9525" h="2343150">
                  <a:moveTo>
                    <a:pt x="0" y="23431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4857750" y="2819400"/>
              <a:ext cx="247650" cy="228600"/>
            </a:xfrm>
            <a:custGeom>
              <a:avLst/>
              <a:gdLst/>
              <a:ahLst/>
              <a:cxnLst/>
              <a:rect l="l" t="t" r="r" b="b"/>
              <a:pathLst>
                <a:path w="247650" h="228600">
                  <a:moveTo>
                    <a:pt x="123825" y="0"/>
                  </a:moveTo>
                  <a:lnTo>
                    <a:pt x="0" y="228600"/>
                  </a:lnTo>
                  <a:lnTo>
                    <a:pt x="247650" y="228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09389" y="5486400"/>
              <a:ext cx="7973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ELEVATOR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9" name="random-pool"/>
          <p:cNvGrpSpPr/>
          <p:nvPr/>
        </p:nvGrpSpPr>
        <p:grpSpPr>
          <a:xfrm>
            <a:off x="6433185" y="2070100"/>
            <a:ext cx="4787265" cy="3934333"/>
            <a:chOff x="6433185" y="2070100"/>
            <a:chExt cx="4787265" cy="3934333"/>
          </a:xfrm>
        </p:grpSpPr>
        <p:sp>
          <p:nvSpPr>
            <p:cNvPr id="37" name="TextBox 37"/>
            <p:cNvSpPr txBox="1"/>
            <p:nvPr/>
          </p:nvSpPr>
          <p:spPr>
            <a:xfrm>
              <a:off x="6433185" y="2070100"/>
              <a:ext cx="1785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RANDOM CONTENT POOL</a:t>
              </a:r>
              <a:endParaRPr lang="en-US" sz="112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515100" y="2571750"/>
              <a:ext cx="4705350" cy="3086100"/>
            </a:xfrm>
            <a:custGeom>
              <a:avLst/>
              <a:gdLst/>
              <a:ahLst/>
              <a:cxnLst/>
              <a:rect l="l" t="t" r="r" b="b"/>
              <a:pathLst>
                <a:path w="4705350" h="3086100">
                  <a:moveTo>
                    <a:pt x="0" y="0"/>
                  </a:moveTo>
                  <a:lnTo>
                    <a:pt x="4705350" y="0"/>
                  </a:lnTo>
                  <a:moveTo>
                    <a:pt x="0" y="3086100"/>
                  </a:moveTo>
                  <a:lnTo>
                    <a:pt x="4705350" y="30861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515100" y="2800350"/>
              <a:ext cx="4171950" cy="2438400"/>
              <a:chOff x="6515100" y="2800350"/>
              <a:chExt cx="4171950" cy="2438400"/>
            </a:xfrm>
          </p:grpSpPr>
          <p:sp>
            <p:nvSpPr>
              <p:cNvPr id="39" name="Polygon 39"/>
              <p:cNvSpPr/>
              <p:nvPr/>
            </p:nvSpPr>
            <p:spPr>
              <a:xfrm>
                <a:off x="6515100" y="2800350"/>
                <a:ext cx="16383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638300" h="609600">
                    <a:moveTo>
                      <a:pt x="190500" y="0"/>
                    </a:moveTo>
                    <a:lnTo>
                      <a:pt x="1447800" y="0"/>
                    </a:lnTo>
                    <a:lnTo>
                      <a:pt x="1638300" y="304800"/>
                    </a:lnTo>
                    <a:lnTo>
                      <a:pt x="1447800" y="609600"/>
                    </a:lnTo>
                    <a:lnTo>
                      <a:pt x="190500" y="6096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881622" y="2844800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敌人组合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912178" y="314325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近战 / 远程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Polygon 42"/>
              <p:cNvSpPr/>
              <p:nvPr/>
            </p:nvSpPr>
            <p:spPr>
              <a:xfrm>
                <a:off x="9048750" y="2800350"/>
                <a:ext cx="16383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638300" h="609600">
                    <a:moveTo>
                      <a:pt x="190500" y="0"/>
                    </a:moveTo>
                    <a:lnTo>
                      <a:pt x="1447800" y="0"/>
                    </a:lnTo>
                    <a:lnTo>
                      <a:pt x="1638300" y="304800"/>
                    </a:lnTo>
                    <a:lnTo>
                      <a:pt x="1447800" y="609600"/>
                    </a:lnTo>
                    <a:lnTo>
                      <a:pt x="190500" y="6096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chemeClr val="accent2">
                  <a:alpha val="13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415272" y="2844800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障碍布局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445828" y="314325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掩体 / 窄道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Polygon 45"/>
              <p:cNvSpPr/>
              <p:nvPr/>
            </p:nvSpPr>
            <p:spPr>
              <a:xfrm>
                <a:off x="6515100" y="3714750"/>
                <a:ext cx="16383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638300" h="609600">
                    <a:moveTo>
                      <a:pt x="190500" y="0"/>
                    </a:moveTo>
                    <a:lnTo>
                      <a:pt x="1447800" y="0"/>
                    </a:lnTo>
                    <a:lnTo>
                      <a:pt x="1638300" y="304800"/>
                    </a:lnTo>
                    <a:lnTo>
                      <a:pt x="1447800" y="609600"/>
                    </a:lnTo>
                    <a:lnTo>
                      <a:pt x="190500" y="6096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chemeClr val="accent3">
                  <a:alpha val="12000"/>
                </a:schemeClr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992684" y="3759200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配电箱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762750" y="405765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本战斗随机升级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Polygon 48"/>
              <p:cNvSpPr/>
              <p:nvPr/>
            </p:nvSpPr>
            <p:spPr>
              <a:xfrm>
                <a:off x="9048750" y="3714750"/>
                <a:ext cx="16383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638300" h="609600">
                    <a:moveTo>
                      <a:pt x="190500" y="0"/>
                    </a:moveTo>
                    <a:lnTo>
                      <a:pt x="1447800" y="0"/>
                    </a:lnTo>
                    <a:lnTo>
                      <a:pt x="1638300" y="304800"/>
                    </a:lnTo>
                    <a:lnTo>
                      <a:pt x="1447800" y="609600"/>
                    </a:lnTo>
                    <a:lnTo>
                      <a:pt x="190500" y="6096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chemeClr val="accent6">
                  <a:alpha val="16000"/>
                </a:schemeClr>
              </a:solidFill>
              <a:ln w="19050">
                <a:solidFill>
                  <a:schemeClr val="accent6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415272" y="3759200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标记尸体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296400" y="405765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清场后低阶组件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Polygon 51"/>
              <p:cNvSpPr/>
              <p:nvPr/>
            </p:nvSpPr>
            <p:spPr>
              <a:xfrm>
                <a:off x="6515100" y="4629150"/>
                <a:ext cx="16383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638300" h="609600">
                    <a:moveTo>
                      <a:pt x="190500" y="0"/>
                    </a:moveTo>
                    <a:lnTo>
                      <a:pt x="1447800" y="0"/>
                    </a:lnTo>
                    <a:lnTo>
                      <a:pt x="1638300" y="304800"/>
                    </a:lnTo>
                    <a:lnTo>
                      <a:pt x="1447800" y="609600"/>
                    </a:lnTo>
                    <a:lnTo>
                      <a:pt x="190500" y="6096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chemeClr val="accent2">
                  <a:alpha val="13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770561" y="4673600"/>
                <a:ext cx="11273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无人机快递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750634" y="4972050"/>
                <a:ext cx="11672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窗口 / 阳台投送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Polygon 54"/>
              <p:cNvSpPr/>
              <p:nvPr/>
            </p:nvSpPr>
            <p:spPr>
              <a:xfrm>
                <a:off x="9048750" y="4629150"/>
                <a:ext cx="163830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638300" h="609600">
                    <a:moveTo>
                      <a:pt x="190500" y="0"/>
                    </a:moveTo>
                    <a:lnTo>
                      <a:pt x="1447800" y="0"/>
                    </a:lnTo>
                    <a:lnTo>
                      <a:pt x="1638300" y="304800"/>
                    </a:lnTo>
                    <a:lnTo>
                      <a:pt x="1447800" y="609600"/>
                    </a:lnTo>
                    <a:lnTo>
                      <a:pt x="190500" y="6096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415272" y="4673600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被困人质</a:t>
                </a:r>
                <a:endPara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296400" y="497205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撤离后解锁功能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6508242" y="5740400"/>
              <a:ext cx="3542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楼层越高 → 风险增加 → 高品质掉落权重提高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hrome"/>
          <p:cNvGrpSpPr/>
          <p:nvPr/>
        </p:nvGrpSpPr>
        <p:grpSpPr>
          <a:xfrm>
            <a:off x="323850" y="304800"/>
            <a:ext cx="11544300" cy="6249543"/>
            <a:chOff x="323850" y="304800"/>
            <a:chExt cx="11544300" cy="6249543"/>
          </a:xfrm>
        </p:grpSpPr>
        <p:sp>
          <p:nvSpPr>
            <p:cNvPr id="2" name="Freeform 2"/>
            <p:cNvSpPr/>
            <p:nvPr/>
          </p:nvSpPr>
          <p:spPr>
            <a:xfrm>
              <a:off x="323850" y="304800"/>
              <a:ext cx="11544300" cy="6248400"/>
            </a:xfrm>
            <a:custGeom>
              <a:avLst/>
              <a:gdLst/>
              <a:ahLst/>
              <a:cxnLst/>
              <a:rect l="l" t="t" r="r" b="b"/>
              <a:pathLst>
                <a:path w="11544300" h="6248400">
                  <a:moveTo>
                    <a:pt x="0" y="400050"/>
                  </a:moveTo>
                  <a:lnTo>
                    <a:pt x="0" y="0"/>
                  </a:lnTo>
                  <a:lnTo>
                    <a:pt x="552450" y="0"/>
                  </a:lnTo>
                  <a:moveTo>
                    <a:pt x="10991850" y="0"/>
                  </a:moveTo>
                  <a:lnTo>
                    <a:pt x="11544300" y="0"/>
                  </a:lnTo>
                  <a:lnTo>
                    <a:pt x="11544300" y="400050"/>
                  </a:lnTo>
                  <a:moveTo>
                    <a:pt x="0" y="5848350"/>
                  </a:moveTo>
                  <a:lnTo>
                    <a:pt x="0" y="6248400"/>
                  </a:lnTo>
                  <a:lnTo>
                    <a:pt x="552450" y="6248400"/>
                  </a:lnTo>
                  <a:moveTo>
                    <a:pt x="10991850" y="6248400"/>
                  </a:moveTo>
                  <a:lnTo>
                    <a:pt x="11544300" y="6248400"/>
                  </a:lnTo>
                  <a:lnTo>
                    <a:pt x="11544300" y="5848350"/>
                  </a:lnTo>
                </a:path>
              </a:pathLst>
            </a:custGeom>
            <a:noFill/>
            <a:ln w="19050">
              <a:solidFill>
                <a:schemeClr val="accent2">
                  <a:alpha val="65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10810875" y="447675"/>
              <a:ext cx="133350" cy="133350"/>
            </a:xfrm>
            <a:prstGeom prst="ellipse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43285" y="431800"/>
              <a:ext cx="33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REC</a:t>
              </a:r>
              <a:endParaRPr lang="en-US" sz="1120" b="1" spc="150" dirty="0">
                <a:solidFill>
                  <a:schemeClr val="dk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7116" y="444500"/>
              <a:ext cx="18398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08 / KEY FEATURES</a:t>
              </a:r>
              <a:endParaRPr lang="en-US" sz="1050" spc="1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901047" y="6362700"/>
              <a:ext cx="8603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00:03:45:16</a:t>
              </a:r>
              <a:endParaRPr lang="zh-CN" sz="98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  <p:grpSp>
        <p:nvGrpSpPr>
          <p:cNvPr id="12" name="heading"/>
          <p:cNvGrpSpPr/>
          <p:nvPr/>
        </p:nvGrpSpPr>
        <p:grpSpPr>
          <a:xfrm>
            <a:off x="593598" y="971550"/>
            <a:ext cx="10882884" cy="616077"/>
            <a:chOff x="593598" y="971550"/>
            <a:chExt cx="10882884" cy="616077"/>
          </a:xfrm>
        </p:grpSpPr>
        <p:sp>
          <p:nvSpPr>
            <p:cNvPr id="8" name="TextBox 8"/>
            <p:cNvSpPr txBox="1"/>
            <p:nvPr/>
          </p:nvSpPr>
          <p:spPr>
            <a:xfrm>
              <a:off x="593598" y="971550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项目亮点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1504950"/>
              <a:ext cx="7810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466850" y="1504950"/>
              <a:ext cx="3238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16365" y="1149350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轻量规模，高密度选择。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feature-field"/>
          <p:cNvGrpSpPr/>
          <p:nvPr/>
        </p:nvGrpSpPr>
        <p:grpSpPr>
          <a:xfrm>
            <a:off x="571500" y="2133600"/>
            <a:ext cx="11049000" cy="3657600"/>
            <a:chOff x="571500" y="2133600"/>
            <a:chExt cx="11049000" cy="3657600"/>
          </a:xfrm>
        </p:grpSpPr>
        <p:sp>
          <p:nvSpPr>
            <p:cNvPr id="13" name="Polygon 13"/>
            <p:cNvSpPr/>
            <p:nvPr/>
          </p:nvSpPr>
          <p:spPr>
            <a:xfrm>
              <a:off x="5429250" y="2457450"/>
              <a:ext cx="1333500" cy="1276350"/>
            </a:xfrm>
            <a:custGeom>
              <a:avLst/>
              <a:gdLst/>
              <a:ahLst/>
              <a:cxnLst/>
              <a:rect l="l" t="t" r="r" b="b"/>
              <a:pathLst>
                <a:path w="1333500" h="1276350">
                  <a:moveTo>
                    <a:pt x="666750" y="0"/>
                  </a:moveTo>
                  <a:lnTo>
                    <a:pt x="1333500" y="476250"/>
                  </a:lnTo>
                  <a:lnTo>
                    <a:pt x="1085850" y="1276350"/>
                  </a:lnTo>
                  <a:lnTo>
                    <a:pt x="247650" y="12763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chemeClr val="lt2"/>
            </a:solidFill>
            <a:ln w="38100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09648" y="278765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05</a:t>
              </a:r>
              <a:endParaRPr lang="zh-CN" sz="2250" b="1" dirty="0">
                <a:solidFill>
                  <a:schemeClr val="accent3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25353" y="3200400"/>
              <a:ext cx="11412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SYSTEM LINKS</a:t>
              </a:r>
              <a:endParaRPr lang="en-US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3829050" y="2667000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1600200" y="3238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019550" y="3676650"/>
              <a:ext cx="1581150" cy="838200"/>
            </a:xfrm>
            <a:custGeom>
              <a:avLst/>
              <a:gdLst/>
              <a:ahLst/>
              <a:cxnLst/>
              <a:rect l="l" t="t" r="r" b="b"/>
              <a:pathLst>
                <a:path w="1581150" h="838200">
                  <a:moveTo>
                    <a:pt x="1581150" y="0"/>
                  </a:moveTo>
                  <a:lnTo>
                    <a:pt x="0" y="8382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762750" y="2667000"/>
              <a:ext cx="1600200" cy="323850"/>
            </a:xfrm>
            <a:custGeom>
              <a:avLst/>
              <a:gdLst/>
              <a:ahLst/>
              <a:cxnLst/>
              <a:rect l="l" t="t" r="r" b="b"/>
              <a:pathLst>
                <a:path w="1600200" h="323850">
                  <a:moveTo>
                    <a:pt x="0" y="323850"/>
                  </a:moveTo>
                  <a:lnTo>
                    <a:pt x="160020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591300" y="3676650"/>
              <a:ext cx="1581150" cy="838200"/>
            </a:xfrm>
            <a:custGeom>
              <a:avLst/>
              <a:gdLst/>
              <a:ahLst/>
              <a:cxnLst/>
              <a:rect l="l" t="t" r="r" b="b"/>
              <a:pathLst>
                <a:path w="1581150" h="838200">
                  <a:moveTo>
                    <a:pt x="0" y="0"/>
                  </a:moveTo>
                  <a:lnTo>
                    <a:pt x="1581150" y="8382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096000" y="3733800"/>
              <a:ext cx="9525" cy="1485900"/>
            </a:xfrm>
            <a:custGeom>
              <a:avLst/>
              <a:gdLst/>
              <a:ahLst/>
              <a:cxnLst/>
              <a:rect l="l" t="t" r="r" b="b"/>
              <a:pathLst>
                <a:path w="9525" h="1485900">
                  <a:moveTo>
                    <a:pt x="0" y="0"/>
                  </a:moveTo>
                  <a:lnTo>
                    <a:pt x="0" y="148590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71500" y="2133600"/>
              <a:ext cx="11049000" cy="3657600"/>
              <a:chOff x="571500" y="2133600"/>
              <a:chExt cx="11049000" cy="3657600"/>
            </a:xfrm>
          </p:grpSpPr>
          <p:sp>
            <p:nvSpPr>
              <p:cNvPr id="21" name="Polygon 21"/>
              <p:cNvSpPr/>
              <p:nvPr/>
            </p:nvSpPr>
            <p:spPr>
              <a:xfrm>
                <a:off x="571500" y="2133600"/>
                <a:ext cx="339090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895350">
                    <a:moveTo>
                      <a:pt x="266700" y="0"/>
                    </a:moveTo>
                    <a:lnTo>
                      <a:pt x="3124200" y="0"/>
                    </a:lnTo>
                    <a:lnTo>
                      <a:pt x="3390900" y="266700"/>
                    </a:lnTo>
                    <a:lnTo>
                      <a:pt x="3124200" y="895350"/>
                    </a:lnTo>
                    <a:lnTo>
                      <a:pt x="266700" y="895350"/>
                    </a:lnTo>
                    <a:lnTo>
                      <a:pt x="0" y="628650"/>
                    </a:ln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86206" y="2279650"/>
                <a:ext cx="13437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01 完美格挡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88492" y="2635250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把防守变成反击与额外收益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Polygon 24"/>
              <p:cNvSpPr/>
              <p:nvPr/>
            </p:nvSpPr>
            <p:spPr>
              <a:xfrm>
                <a:off x="8229600" y="2133600"/>
                <a:ext cx="339090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895350">
                    <a:moveTo>
                      <a:pt x="266700" y="0"/>
                    </a:moveTo>
                    <a:lnTo>
                      <a:pt x="3124200" y="0"/>
                    </a:lnTo>
                    <a:lnTo>
                      <a:pt x="3390900" y="628650"/>
                    </a:lnTo>
                    <a:lnTo>
                      <a:pt x="3124200" y="895350"/>
                    </a:lnTo>
                    <a:lnTo>
                      <a:pt x="266700" y="89535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chemeClr val="accent2">
                  <a:alpha val="13000"/>
                </a:schemeClr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544306" y="2279650"/>
                <a:ext cx="13437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02 备用配装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46592" y="2635250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按敌人与场景切换组件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Polygon 27"/>
              <p:cNvSpPr/>
              <p:nvPr/>
            </p:nvSpPr>
            <p:spPr>
              <a:xfrm>
                <a:off x="571500" y="4057650"/>
                <a:ext cx="339090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895350">
                    <a:moveTo>
                      <a:pt x="266700" y="0"/>
                    </a:moveTo>
                    <a:lnTo>
                      <a:pt x="3124200" y="0"/>
                    </a:lnTo>
                    <a:lnTo>
                      <a:pt x="3390900" y="628650"/>
                    </a:lnTo>
                    <a:lnTo>
                      <a:pt x="3124200" y="895350"/>
                    </a:lnTo>
                    <a:lnTo>
                      <a:pt x="266700" y="895350"/>
                    </a:lnTo>
                    <a:lnTo>
                      <a:pt x="0" y="266700"/>
                    </a:lnTo>
                    <a:close/>
                  </a:path>
                </a:pathLst>
              </a:custGeom>
              <a:solidFill>
                <a:schemeClr val="accent3">
                  <a:alpha val="12000"/>
                </a:schemeClr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86206" y="4203700"/>
                <a:ext cx="13437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03 正向评级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88492" y="4559300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高水平增加奖励，低评级不扣基础收益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Polygon 30"/>
              <p:cNvSpPr/>
              <p:nvPr/>
            </p:nvSpPr>
            <p:spPr>
              <a:xfrm>
                <a:off x="8229600" y="4057650"/>
                <a:ext cx="3390900" cy="89535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895350">
                    <a:moveTo>
                      <a:pt x="266700" y="0"/>
                    </a:moveTo>
                    <a:lnTo>
                      <a:pt x="3124200" y="0"/>
                    </a:lnTo>
                    <a:lnTo>
                      <a:pt x="3390900" y="266700"/>
                    </a:lnTo>
                    <a:lnTo>
                      <a:pt x="3124200" y="895350"/>
                    </a:lnTo>
                    <a:lnTo>
                      <a:pt x="266700" y="895350"/>
                    </a:lnTo>
                    <a:lnTo>
                      <a:pt x="0" y="628650"/>
                    </a:lnTo>
                    <a:close/>
                  </a:path>
                </a:pathLst>
              </a:custGeom>
              <a:solidFill>
                <a:schemeClr val="accent6">
                  <a:alpha val="18000"/>
                </a:schemeClr>
              </a:solidFill>
              <a:ln w="28575">
                <a:solidFill>
                  <a:schemeClr val="accent6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544306" y="4203700"/>
                <a:ext cx="13437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04 场景连携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546592" y="4559300"/>
                <a:ext cx="29215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配电箱、门、无人机与尸体都可利用</a:t>
                </a:r>
                <a:endPara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Polygon 33"/>
              <p:cNvSpPr/>
              <p:nvPr/>
            </p:nvSpPr>
            <p:spPr>
              <a:xfrm>
                <a:off x="4171950" y="5219700"/>
                <a:ext cx="38481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3848100" h="571500">
                    <a:moveTo>
                      <a:pt x="266700" y="0"/>
                    </a:moveTo>
                    <a:lnTo>
                      <a:pt x="3581400" y="0"/>
                    </a:lnTo>
                    <a:lnTo>
                      <a:pt x="3848100" y="285750"/>
                    </a:lnTo>
                    <a:lnTo>
                      <a:pt x="3581400" y="571500"/>
                    </a:lnTo>
                    <a:lnTo>
                      <a:pt x="266700" y="571500"/>
                    </a:lnTo>
                    <a:lnTo>
                      <a:pt x="0" y="285750"/>
                    </a:lnTo>
                    <a:close/>
                  </a:path>
                </a:pathLst>
              </a:custGeom>
              <a:solidFill>
                <a:schemeClr val="accent2">
                  <a:alpha val="13000"/>
                </a:schemeClr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50875" y="5365750"/>
                <a:ext cx="30902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05 解救人质 → 解锁基地功能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hrome"/>
          <p:cNvGrpSpPr/>
          <p:nvPr/>
        </p:nvGrpSpPr>
        <p:grpSpPr>
          <a:xfrm>
            <a:off x="323850" y="304800"/>
            <a:ext cx="11544300" cy="6249543"/>
            <a:chOff x="323850" y="304800"/>
            <a:chExt cx="11544300" cy="6249543"/>
          </a:xfrm>
        </p:grpSpPr>
        <p:sp>
          <p:nvSpPr>
            <p:cNvPr id="2" name="Freeform 2"/>
            <p:cNvSpPr/>
            <p:nvPr/>
          </p:nvSpPr>
          <p:spPr>
            <a:xfrm>
              <a:off x="323850" y="304800"/>
              <a:ext cx="11544300" cy="6248400"/>
            </a:xfrm>
            <a:custGeom>
              <a:avLst/>
              <a:gdLst/>
              <a:ahLst/>
              <a:cxnLst/>
              <a:rect l="l" t="t" r="r" b="b"/>
              <a:pathLst>
                <a:path w="11544300" h="6248400">
                  <a:moveTo>
                    <a:pt x="0" y="400050"/>
                  </a:moveTo>
                  <a:lnTo>
                    <a:pt x="0" y="0"/>
                  </a:lnTo>
                  <a:lnTo>
                    <a:pt x="552450" y="0"/>
                  </a:lnTo>
                  <a:moveTo>
                    <a:pt x="10991850" y="0"/>
                  </a:moveTo>
                  <a:lnTo>
                    <a:pt x="11544300" y="0"/>
                  </a:lnTo>
                  <a:lnTo>
                    <a:pt x="11544300" y="400050"/>
                  </a:lnTo>
                  <a:moveTo>
                    <a:pt x="0" y="5848350"/>
                  </a:moveTo>
                  <a:lnTo>
                    <a:pt x="0" y="6248400"/>
                  </a:lnTo>
                  <a:lnTo>
                    <a:pt x="552450" y="6248400"/>
                  </a:lnTo>
                  <a:moveTo>
                    <a:pt x="10991850" y="6248400"/>
                  </a:moveTo>
                  <a:lnTo>
                    <a:pt x="11544300" y="6248400"/>
                  </a:lnTo>
                  <a:lnTo>
                    <a:pt x="11544300" y="5848350"/>
                  </a:lnTo>
                </a:path>
              </a:pathLst>
            </a:custGeom>
            <a:noFill/>
            <a:ln w="19050">
              <a:solidFill>
                <a:schemeClr val="accent2">
                  <a:alpha val="65000"/>
                </a:schemeClr>
              </a:solidFill>
            </a:ln>
          </p:spPr>
        </p:sp>
        <p:sp>
          <p:nvSpPr>
            <p:cNvPr id="3" name="Ellipse 3"/>
            <p:cNvSpPr/>
            <p:nvPr/>
          </p:nvSpPr>
          <p:spPr>
            <a:xfrm>
              <a:off x="10810875" y="447675"/>
              <a:ext cx="133350" cy="133350"/>
            </a:xfrm>
            <a:prstGeom prst="ellipse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1043285" y="431800"/>
              <a:ext cx="33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50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REC</a:t>
              </a:r>
              <a:endParaRPr lang="en-US" sz="1120" b="1" spc="150" dirty="0">
                <a:solidFill>
                  <a:schemeClr val="dk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47116" y="444500"/>
              <a:ext cx="2384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09 / TWO-WEEK DELIVERY</a:t>
              </a:r>
              <a:endParaRPr lang="en-US" sz="1050" spc="1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901047" y="6362700"/>
              <a:ext cx="8603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00:04:12:07</a:t>
              </a:r>
              <a:endParaRPr lang="zh-CN" sz="98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  <p:grpSp>
        <p:nvGrpSpPr>
          <p:cNvPr id="12" name="heading"/>
          <p:cNvGrpSpPr/>
          <p:nvPr/>
        </p:nvGrpSpPr>
        <p:grpSpPr>
          <a:xfrm>
            <a:off x="593598" y="971550"/>
            <a:ext cx="10882884" cy="616077"/>
            <a:chOff x="593598" y="971550"/>
            <a:chExt cx="10882884" cy="616077"/>
          </a:xfrm>
        </p:grpSpPr>
        <p:sp>
          <p:nvSpPr>
            <p:cNvPr id="8" name="TextBox 8"/>
            <p:cNvSpPr txBox="1"/>
            <p:nvPr/>
          </p:nvSpPr>
          <p:spPr>
            <a:xfrm>
              <a:off x="593598" y="971550"/>
              <a:ext cx="2576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两周首版计划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09600" y="1504950"/>
              <a:ext cx="7810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466850" y="1504950"/>
              <a:ext cx="32385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94242" y="1149350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目标：一条完整可撤离流程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timeline"/>
          <p:cNvGrpSpPr/>
          <p:nvPr/>
        </p:nvGrpSpPr>
        <p:grpSpPr>
          <a:xfrm>
            <a:off x="609600" y="2057400"/>
            <a:ext cx="10782300" cy="1314450"/>
            <a:chOff x="609600" y="2057400"/>
            <a:chExt cx="10782300" cy="1314450"/>
          </a:xfrm>
        </p:grpSpPr>
        <p:sp>
          <p:nvSpPr>
            <p:cNvPr id="13" name="Line 13"/>
            <p:cNvSpPr/>
            <p:nvPr/>
          </p:nvSpPr>
          <p:spPr>
            <a:xfrm>
              <a:off x="819150" y="2609850"/>
              <a:ext cx="10306050" cy="9525"/>
            </a:xfrm>
            <a:custGeom>
              <a:avLst/>
              <a:gdLst/>
              <a:ahLst/>
              <a:cxnLst/>
              <a:rect l="l" t="t" r="r" b="b"/>
              <a:pathLst>
                <a:path w="10306050" h="9525">
                  <a:moveTo>
                    <a:pt x="0" y="0"/>
                  </a:moveTo>
                  <a:lnTo>
                    <a:pt x="10306050" y="0"/>
                  </a:lnTo>
                </a:path>
              </a:pathLst>
            </a:custGeom>
            <a:noFill/>
            <a:ln w="76200">
              <a:solidFill>
                <a:schemeClr val="accent6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742950" y="24765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657850" y="24765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53750" y="24384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8754" y="2057400"/>
              <a:ext cx="485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10/13</a:t>
              </a:r>
              <a:endParaRPr lang="zh-CN" sz="1200" b="1" dirty="0">
                <a:solidFill>
                  <a:schemeClr val="accent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04104" y="2057400"/>
              <a:ext cx="485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10/18</a:t>
              </a:r>
              <a:endParaRPr lang="zh-CN" sz="1200" b="1" dirty="0">
                <a:solidFill>
                  <a:schemeClr val="accent2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700004" y="2057400"/>
              <a:ext cx="4855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10/27</a:t>
              </a:r>
              <a:endParaRPr lang="zh-CN" sz="1200" b="1" dirty="0">
                <a:solidFill>
                  <a:schemeClr val="accent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20" name="Polygon 20"/>
            <p:cNvSpPr/>
            <p:nvPr/>
          </p:nvSpPr>
          <p:spPr>
            <a:xfrm>
              <a:off x="609600" y="2838450"/>
              <a:ext cx="5124450" cy="533400"/>
            </a:xfrm>
            <a:custGeom>
              <a:avLst/>
              <a:gdLst/>
              <a:ahLst/>
              <a:cxnLst/>
              <a:rect l="l" t="t" r="r" b="b"/>
              <a:pathLst>
                <a:path w="5124450" h="533400">
                  <a:moveTo>
                    <a:pt x="266700" y="0"/>
                  </a:moveTo>
                  <a:lnTo>
                    <a:pt x="4857750" y="0"/>
                  </a:lnTo>
                  <a:lnTo>
                    <a:pt x="5124450" y="266700"/>
                  </a:lnTo>
                  <a:lnTo>
                    <a:pt x="4857750" y="533400"/>
                  </a:lnTo>
                  <a:lnTo>
                    <a:pt x="266700" y="5334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1">
                <a:alpha val="16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9180" y="2946400"/>
              <a:ext cx="49857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战斗原型：移动 / 攻击 / 格挡 / 1 种敌人 / 1 个灰盒区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Polygon 22"/>
            <p:cNvSpPr/>
            <p:nvPr/>
          </p:nvSpPr>
          <p:spPr>
            <a:xfrm>
              <a:off x="5734050" y="2838450"/>
              <a:ext cx="5657850" cy="533400"/>
            </a:xfrm>
            <a:custGeom>
              <a:avLst/>
              <a:gdLst/>
              <a:ahLst/>
              <a:cxnLst/>
              <a:rect l="l" t="t" r="r" b="b"/>
              <a:pathLst>
                <a:path w="5657850" h="533400">
                  <a:moveTo>
                    <a:pt x="266700" y="0"/>
                  </a:moveTo>
                  <a:lnTo>
                    <a:pt x="5391150" y="0"/>
                  </a:lnTo>
                  <a:lnTo>
                    <a:pt x="5657850" y="266700"/>
                  </a:lnTo>
                  <a:lnTo>
                    <a:pt x="5391150" y="533400"/>
                  </a:lnTo>
                  <a:lnTo>
                    <a:pt x="266700" y="533400"/>
                  </a:lnTo>
                  <a:lnTo>
                    <a:pt x="0" y="266700"/>
                  </a:lnTo>
                  <a:close/>
                </a:path>
              </a:pathLst>
            </a:custGeom>
            <a:solidFill>
              <a:schemeClr val="accent2">
                <a:alpha val="14000"/>
              </a:schemeClr>
            </a:solidFill>
            <a:ln w="1905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183630" y="2946400"/>
              <a:ext cx="4763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垂直切片：基地 → 单层两战区 → 撤离结算 / 2 种敌人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team-lanes"/>
          <p:cNvGrpSpPr/>
          <p:nvPr/>
        </p:nvGrpSpPr>
        <p:grpSpPr>
          <a:xfrm>
            <a:off x="622935" y="3841750"/>
            <a:ext cx="7473315" cy="1784096"/>
            <a:chOff x="622935" y="3841750"/>
            <a:chExt cx="7473315" cy="1784096"/>
          </a:xfrm>
        </p:grpSpPr>
        <p:sp>
          <p:nvSpPr>
            <p:cNvPr id="25" name="TextBox 25"/>
            <p:cNvSpPr txBox="1"/>
            <p:nvPr/>
          </p:nvSpPr>
          <p:spPr>
            <a:xfrm>
              <a:off x="622935" y="3841750"/>
              <a:ext cx="9449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TEAM LANES</a:t>
              </a:r>
              <a:endParaRPr lang="en-US" sz="112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628650" y="4171950"/>
              <a:ext cx="7467600" cy="9525"/>
            </a:xfrm>
            <a:custGeom>
              <a:avLst/>
              <a:gdLst/>
              <a:ahLst/>
              <a:cxnLst/>
              <a:rect l="l" t="t" r="r" b="b"/>
              <a:pathLst>
                <a:path w="7467600" h="9525">
                  <a:moveTo>
                    <a:pt x="0" y="0"/>
                  </a:moveTo>
                  <a:lnTo>
                    <a:pt x="7467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6468" y="43116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沈宝硕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02130" y="4337050"/>
              <a:ext cx="27660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玩家 / 武器 / 格挡 / 战斗反馈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6468" y="48069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杨家耀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02130" y="4832350"/>
              <a:ext cx="27660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敌人 / 背包 / 掉落数据 / 存档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6468" y="5302250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张文华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02130" y="5327650"/>
              <a:ext cx="31698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场景 / 房间模板 / 碰撞 / 关卡整合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47004" y="4362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美术与音效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47004" y="46482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三人随模块分摊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7004" y="51054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开发过程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47004" y="5391150"/>
              <a:ext cx="1228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使用 AI 辅助编程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scope"/>
          <p:cNvGrpSpPr/>
          <p:nvPr/>
        </p:nvGrpSpPr>
        <p:grpSpPr>
          <a:xfrm>
            <a:off x="8534400" y="3848100"/>
            <a:ext cx="2914650" cy="1885950"/>
            <a:chOff x="8534400" y="3848100"/>
            <a:chExt cx="2914650" cy="1885950"/>
          </a:xfrm>
        </p:grpSpPr>
        <p:sp>
          <p:nvSpPr>
            <p:cNvPr id="38" name="Polygon 38"/>
            <p:cNvSpPr/>
            <p:nvPr/>
          </p:nvSpPr>
          <p:spPr>
            <a:xfrm>
              <a:off x="8534400" y="3848100"/>
              <a:ext cx="2914650" cy="1885950"/>
            </a:xfrm>
            <a:custGeom>
              <a:avLst/>
              <a:gdLst/>
              <a:ahLst/>
              <a:cxnLst/>
              <a:rect l="l" t="t" r="r" b="b"/>
              <a:pathLst>
                <a:path w="2914650" h="1885950">
                  <a:moveTo>
                    <a:pt x="228600" y="0"/>
                  </a:moveTo>
                  <a:lnTo>
                    <a:pt x="2686050" y="0"/>
                  </a:lnTo>
                  <a:lnTo>
                    <a:pt x="2914650" y="228600"/>
                  </a:lnTo>
                  <a:lnTo>
                    <a:pt x="2914650" y="1657350"/>
                  </a:lnTo>
                  <a:lnTo>
                    <a:pt x="2686050" y="1885950"/>
                  </a:lnTo>
                  <a:lnTo>
                    <a:pt x="228600" y="1885950"/>
                  </a:lnTo>
                  <a:lnTo>
                    <a:pt x="0" y="165735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chemeClr val="lt2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57285" y="4032250"/>
              <a:ext cx="1411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V0.1 SCOPE LOCK</a:t>
              </a:r>
              <a:endParaRPr lang="en-US" sz="1120" b="1" dirty="0">
                <a:solidFill>
                  <a:schemeClr val="accent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56142" y="4387850"/>
              <a:ext cx="19996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Windows 可执行文件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4692650"/>
              <a:ext cx="13522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一次完整撤离</a:t>
              </a:r>
              <a:endParaRPr lang="zh-CN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56142" y="4997450"/>
              <a:ext cx="1901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 不做完整四层与 Boss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56142" y="5302250"/>
              <a:ext cx="144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— 不追求最终美术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later-dates"/>
          <p:cNvGrpSpPr/>
          <p:nvPr/>
        </p:nvGrpSpPr>
        <p:grpSpPr>
          <a:xfrm>
            <a:off x="623316" y="6019800"/>
            <a:ext cx="10850880" cy="234696"/>
            <a:chOff x="623316" y="6019800"/>
            <a:chExt cx="10850880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623316" y="6045200"/>
              <a:ext cx="49885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Cascadia Mono" panose="020B0609020000020004"/>
                  <a:ea typeface="微软雅黑" panose="020B0503020204020204" charset="-122"/>
                  <a:cs typeface="Cascadia Mono" panose="020B0609020000020004"/>
                </a:rPr>
                <a:t>NEXT // 11/03 班级内测修复 · 11/17 面向全校发布 · 12/15 项目总结</a:t>
              </a:r>
              <a:endParaRPr lang="zh-CN" sz="1050" dirty="0">
                <a:solidFill>
                  <a:schemeClr val="accent5"/>
                </a:solidFill>
                <a:latin typeface="Cascadia Mono" panose="020B0609020000020004"/>
                <a:ea typeface="微软雅黑" panose="020B0503020204020204" charset="-122"/>
                <a:cs typeface="Cascadia Mono" panose="020B06090200000200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61587" y="6019800"/>
              <a:ext cx="1812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chemeClr val="accent3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10/27 V0.1 WINDOWS</a:t>
              </a:r>
              <a:endParaRPr lang="en-US" sz="1200" b="1" dirty="0">
                <a:solidFill>
                  <a:schemeClr val="accent3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e-art"/>
          <p:cNvPicPr>
            <a:picLocks noChangeAspect="1"/>
          </p:cNvPicPr>
          <p:nvPr/>
        </p:nvPicPr>
        <p:blipFill>
          <a:blip r:embed="rId1"/>
          <a:srcRect t="332" b="3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lose-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96000"/>
                </a:schemeClr>
              </a:gs>
              <a:gs pos="60000">
                <a:schemeClr val="lt1">
                  <a:alpha val="70000"/>
                </a:schemeClr>
              </a:gs>
              <a:gs pos="100000">
                <a:schemeClr val="lt1">
                  <a:alpha val="38000"/>
                </a:schemeClr>
              </a:gs>
            </a:gsLst>
            <a:lin ang="0" scaled="1"/>
          </a:gradFill>
          <a:ln>
            <a:noFill/>
          </a:ln>
        </p:spPr>
      </p:sp>
      <p:grpSp>
        <p:nvGrpSpPr>
          <p:cNvPr id="10" name="chrome"/>
          <p:cNvGrpSpPr/>
          <p:nvPr/>
        </p:nvGrpSpPr>
        <p:grpSpPr>
          <a:xfrm>
            <a:off x="0" y="304800"/>
            <a:ext cx="12192000" cy="6248400"/>
            <a:chOff x="0" y="304800"/>
            <a:chExt cx="12192000" cy="6248400"/>
          </a:xfrm>
        </p:grpSpPr>
        <p:sp>
          <p:nvSpPr>
            <p:cNvPr id="4" name="Freeform 4"/>
            <p:cNvSpPr/>
            <p:nvPr/>
          </p:nvSpPr>
          <p:spPr>
            <a:xfrm>
              <a:off x="304800" y="304800"/>
              <a:ext cx="11582400" cy="6248400"/>
            </a:xfrm>
            <a:custGeom>
              <a:avLst/>
              <a:gdLst/>
              <a:ahLst/>
              <a:cxnLst/>
              <a:rect l="l" t="t" r="r" b="b"/>
              <a:pathLst>
                <a:path w="11582400" h="6248400">
                  <a:moveTo>
                    <a:pt x="0" y="419100"/>
                  </a:moveTo>
                  <a:lnTo>
                    <a:pt x="0" y="0"/>
                  </a:lnTo>
                  <a:lnTo>
                    <a:pt x="571500" y="0"/>
                  </a:lnTo>
                  <a:moveTo>
                    <a:pt x="11010900" y="0"/>
                  </a:moveTo>
                  <a:lnTo>
                    <a:pt x="11582400" y="0"/>
                  </a:lnTo>
                  <a:lnTo>
                    <a:pt x="11582400" y="419100"/>
                  </a:lnTo>
                  <a:moveTo>
                    <a:pt x="0" y="5829300"/>
                  </a:moveTo>
                  <a:lnTo>
                    <a:pt x="0" y="6248400"/>
                  </a:lnTo>
                  <a:lnTo>
                    <a:pt x="571500" y="6248400"/>
                  </a:lnTo>
                  <a:moveTo>
                    <a:pt x="11010900" y="6248400"/>
                  </a:moveTo>
                  <a:lnTo>
                    <a:pt x="11582400" y="6248400"/>
                  </a:lnTo>
                  <a:lnTo>
                    <a:pt x="11582400" y="5829300"/>
                  </a:lnTo>
                </a:path>
              </a:pathLst>
            </a:custGeom>
            <a:noFill/>
            <a:ln w="19050">
              <a:solidFill>
                <a:schemeClr val="accent2">
                  <a:alpha val="72000"/>
                </a:schemeClr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0858500" y="476250"/>
              <a:ext cx="152400" cy="152400"/>
            </a:xfrm>
            <a:prstGeom prst="ellipse">
              <a:avLst/>
            </a:prstGeom>
            <a:solidFill>
              <a:srgbClr val="FF003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138154" y="457200"/>
              <a:ext cx="354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50" dirty="0">
                  <a:solidFill>
                    <a:schemeClr val="dk1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REC</a:t>
              </a:r>
              <a:endParaRPr lang="en-US" sz="1200" b="1" spc="150" dirty="0">
                <a:solidFill>
                  <a:schemeClr val="dk1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13385" y="488950"/>
              <a:ext cx="678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PLAY ▶</a:t>
              </a:r>
              <a:endParaRPr lang="en-US" sz="1120" spc="1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052685" y="6318250"/>
              <a:ext cx="9833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00:04:48:00</a:t>
              </a:r>
              <a:endParaRPr lang="zh-CN" sz="112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66800"/>
              <a:ext cx="12192000" cy="4267200"/>
            </a:xfrm>
            <a:custGeom>
              <a:avLst/>
              <a:gdLst/>
              <a:ahLst/>
              <a:cxnLst/>
              <a:rect l="l" t="t" r="r" b="b"/>
              <a:pathLst>
                <a:path w="12192000" h="4267200">
                  <a:moveTo>
                    <a:pt x="0" y="0"/>
                  </a:moveTo>
                  <a:lnTo>
                    <a:pt x="12192000" y="0"/>
                  </a:lnTo>
                  <a:moveTo>
                    <a:pt x="0" y="1066800"/>
                  </a:moveTo>
                  <a:lnTo>
                    <a:pt x="12192000" y="1066800"/>
                  </a:lnTo>
                  <a:moveTo>
                    <a:pt x="0" y="2133600"/>
                  </a:moveTo>
                  <a:lnTo>
                    <a:pt x="12192000" y="2133600"/>
                  </a:lnTo>
                  <a:moveTo>
                    <a:pt x="0" y="3200400"/>
                  </a:moveTo>
                  <a:lnTo>
                    <a:pt x="12192000" y="3200400"/>
                  </a:lnTo>
                  <a:moveTo>
                    <a:pt x="0" y="4267200"/>
                  </a:moveTo>
                  <a:lnTo>
                    <a:pt x="12192000" y="4267200"/>
                  </a:lnTo>
                </a:path>
              </a:pathLst>
            </a:custGeom>
            <a:noFill/>
            <a:ln w="9525">
              <a:solidFill>
                <a:schemeClr val="dk1">
                  <a:alpha val="4000"/>
                </a:schemeClr>
              </a:solidFill>
            </a:ln>
          </p:spPr>
        </p:sp>
      </p:grpSp>
      <p:grpSp>
        <p:nvGrpSpPr>
          <p:cNvPr id="19" name="closing-lockup"/>
          <p:cNvGrpSpPr/>
          <p:nvPr/>
        </p:nvGrpSpPr>
        <p:grpSpPr>
          <a:xfrm>
            <a:off x="590550" y="1682750"/>
            <a:ext cx="5682996" cy="3009646"/>
            <a:chOff x="590550" y="1682750"/>
            <a:chExt cx="5682996" cy="3009646"/>
          </a:xfrm>
        </p:grpSpPr>
        <p:sp>
          <p:nvSpPr>
            <p:cNvPr id="11" name="TextBox 11"/>
            <p:cNvSpPr txBox="1"/>
            <p:nvPr/>
          </p:nvSpPr>
          <p:spPr>
            <a:xfrm>
              <a:off x="742950" y="1758950"/>
              <a:ext cx="5530596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chemeClr val="accent2">
                      <a:alphaMod val="46000"/>
                    </a:schemeClr>
                  </a:solidFill>
                  <a:latin typeface="+mj-lt"/>
                  <a:ea typeface="+mj-ea"/>
                  <a:cs typeface="+mj-cs"/>
                </a:rPr>
                <a:t>今晚，热线接通。</a:t>
              </a:r>
              <a:endParaRPr lang="zh-CN" sz="5100" b="1" dirty="0">
                <a:solidFill>
                  <a:schemeClr val="accent2">
                    <a:alphaMod val="46000"/>
                  </a:scheme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0550" y="1682750"/>
              <a:ext cx="5530596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chemeClr val="accent1">
                      <a:alphaMod val="58000"/>
                    </a:schemeClr>
                  </a:solidFill>
                  <a:latin typeface="+mj-lt"/>
                  <a:ea typeface="+mj-ea"/>
                  <a:cs typeface="+mj-cs"/>
                </a:rPr>
                <a:t>今晚，热线接通。</a:t>
              </a:r>
              <a:endParaRPr lang="zh-CN" sz="5100" b="1" dirty="0">
                <a:solidFill>
                  <a:schemeClr val="accent1">
                    <a:alphaMod val="58000"/>
                  </a:scheme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750" y="1720850"/>
              <a:ext cx="5530596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今晚，热线接通。</a:t>
              </a:r>
              <a:endParaRPr lang="zh-CN" sz="51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1896" y="2571750"/>
              <a:ext cx="45247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spc="225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WUJIAOCHANG HOTLINE</a:t>
              </a:r>
              <a:endParaRPr lang="en-US" sz="2550" b="1" spc="225" dirty="0">
                <a:solidFill>
                  <a:schemeClr val="accent2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85800" y="3181350"/>
              <a:ext cx="4000500" cy="60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5632" y="3336925"/>
              <a:ext cx="35221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A0014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10.27 / V0.1 WINDOWS</a:t>
              </a:r>
              <a:endParaRPr lang="en-US" sz="2100" b="1" dirty="0">
                <a:solidFill>
                  <a:srgbClr val="0A0014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76656" y="4070350"/>
              <a:ext cx="27843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沈宝硕 / 杨家耀 / 张文华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79704" y="4457700"/>
              <a:ext cx="2312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THANK YOU // QUESTIONS?</a:t>
              </a:r>
              <a:endParaRPr lang="en-US" sz="120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  <p:grpSp>
        <p:nvGrpSpPr>
          <p:cNvPr id="24" name="signal-glitch"/>
          <p:cNvGrpSpPr/>
          <p:nvPr/>
        </p:nvGrpSpPr>
        <p:grpSpPr>
          <a:xfrm>
            <a:off x="8382000" y="4895850"/>
            <a:ext cx="2577084" cy="897509"/>
            <a:chOff x="8382000" y="4895850"/>
            <a:chExt cx="2577084" cy="897509"/>
          </a:xfrm>
        </p:grpSpPr>
        <p:sp>
          <p:nvSpPr>
            <p:cNvPr id="20" name="Rectangle 20"/>
            <p:cNvSpPr/>
            <p:nvPr/>
          </p:nvSpPr>
          <p:spPr>
            <a:xfrm>
              <a:off x="8382000" y="4895850"/>
              <a:ext cx="2571750" cy="95250"/>
            </a:xfrm>
            <a:prstGeom prst="rect">
              <a:avLst/>
            </a:prstGeom>
            <a:solidFill>
              <a:schemeClr val="accent1">
                <a:alpha val="78000"/>
              </a:scheme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782050" y="5105400"/>
              <a:ext cx="2171700" cy="76200"/>
            </a:xfrm>
            <a:prstGeom prst="rect">
              <a:avLst/>
            </a:prstGeom>
            <a:solidFill>
              <a:schemeClr val="accent2">
                <a:alpha val="78000"/>
              </a:scheme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9239250" y="5295900"/>
              <a:ext cx="1714500" cy="57150"/>
            </a:xfrm>
            <a:prstGeom prst="rect">
              <a:avLst/>
            </a:prstGeom>
            <a:solidFill>
              <a:schemeClr val="accent3">
                <a:alpha val="78000"/>
              </a:scheme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85693" y="5588000"/>
              <a:ext cx="9733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accent5"/>
                  </a:solidFill>
                  <a:latin typeface="Cascadia Mono" panose="020B0609020000020004"/>
                  <a:ea typeface="Cascadia Mono" panose="020B0609020000020004"/>
                  <a:cs typeface="Cascadia Mono" panose="020B0609020000020004"/>
                </a:rPr>
                <a:t>END OF TAPE</a:t>
              </a:r>
              <a:endParaRPr lang="en-US" sz="1050" dirty="0">
                <a:solidFill>
                  <a:schemeClr val="accent5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2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3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4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5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6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7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8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9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10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11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12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13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14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ags/tag15.xml><?xml version="1.0" encoding="utf-8"?>
<p:tagLst xmlns:p="http://schemas.openxmlformats.org/presentationml/2006/main">
  <p:tag name="KSO_WM_DIAGRAM_VIRTUALLY_FRAME" val="{&quot;height&quot;:189,&quot;left&quot;:54,&quot;top&quot;:264,&quot;width&quot;:536.9199999999998}"/>
</p:tagLst>
</file>

<file path=ppt/theme/theme1.xml><?xml version="1.0" encoding="utf-8"?>
<a:theme xmlns:a="http://schemas.openxmlformats.org/drawingml/2006/main" name="wujiaochang_cover">
  <a:themeElements>
    <a:clrScheme name="wujiaochang_cover">
      <a:dk1>
        <a:srgbClr val="F5F7FF"/>
      </a:dk1>
      <a:lt1>
        <a:srgbClr val="0A0014"/>
      </a:lt1>
      <a:dk2>
        <a:srgbClr val="1F497D"/>
      </a:dk2>
      <a:lt2>
        <a:srgbClr val="180625"/>
      </a:lt2>
      <a:accent1>
        <a:srgbClr val="FF2E97"/>
      </a:accent1>
      <a:accent2>
        <a:srgbClr val="00E5FF"/>
      </a:accent2>
      <a:accent3>
        <a:srgbClr val="F7FF00"/>
      </a:accent3>
      <a:accent4>
        <a:srgbClr val="FF2E97"/>
      </a:accent4>
      <a:accent5>
        <a:srgbClr val="B6AFC7"/>
      </a:accent5>
      <a:accent6>
        <a:srgbClr val="8A2BE2"/>
      </a:accent6>
      <a:hlink>
        <a:srgbClr val="00E5FF"/>
      </a:hlink>
      <a:folHlink>
        <a:srgbClr val="F7FF00"/>
      </a:folHlink>
    </a:clrScheme>
    <a:fontScheme name="wujiaochang_cover">
      <a:majorFont>
        <a:latin typeface="Bahnschrift Condensed Bold"/>
        <a:ea typeface="Microsoft YaHei"/>
        <a:cs typeface="Bahnschrift Condensed 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hnschrift"/>
        <a:ea typeface="Microsoft YaHei"/>
        <a:cs typeface="Bahnschrift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ujiaochang_cov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ujiaochang_cover">
  <a:themeElements>
    <a:clrScheme name="wujiaochang_cover">
      <a:dk1>
        <a:srgbClr val="F5F7FF"/>
      </a:dk1>
      <a:lt1>
        <a:srgbClr val="0A0014"/>
      </a:lt1>
      <a:dk2>
        <a:srgbClr val="1F497D"/>
      </a:dk2>
      <a:lt2>
        <a:srgbClr val="180625"/>
      </a:lt2>
      <a:accent1>
        <a:srgbClr val="FF2E97"/>
      </a:accent1>
      <a:accent2>
        <a:srgbClr val="00E5FF"/>
      </a:accent2>
      <a:accent3>
        <a:srgbClr val="F7FF00"/>
      </a:accent3>
      <a:accent4>
        <a:srgbClr val="FF2E97"/>
      </a:accent4>
      <a:accent5>
        <a:srgbClr val="B6AFC7"/>
      </a:accent5>
      <a:accent6>
        <a:srgbClr val="8A2BE2"/>
      </a:accent6>
      <a:hlink>
        <a:srgbClr val="00E5FF"/>
      </a:hlink>
      <a:folHlink>
        <a:srgbClr val="F7FF00"/>
      </a:folHlink>
    </a:clrScheme>
    <a:fontScheme name="wujiaochang_cover">
      <a:majorFont>
        <a:latin typeface="Bahnschrift Condensed Bold"/>
        <a:ea typeface="Microsoft YaHei"/>
        <a:cs typeface="Bahnschrift Condensed 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hnschrift"/>
        <a:ea typeface="Microsoft YaHei"/>
        <a:cs typeface="Bahnschrift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ujiaochang_cov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2290</Words>
  <Application>WPS 演示</Application>
  <PresentationFormat>On-screen Show (16:9)</PresentationFormat>
  <Paragraphs>436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Cascadia Mono</vt:lpstr>
      <vt:lpstr>微软雅黑</vt:lpstr>
      <vt:lpstr>Bahnschrift Condensed Bold</vt:lpstr>
      <vt:lpstr>Bahnschrift</vt:lpstr>
      <vt:lpstr>Arial Unicode MS</vt:lpstr>
      <vt:lpstr>Calibri</vt:lpstr>
      <vt:lpstr>Cascadia Mono</vt:lpstr>
      <vt:lpstr>Kata Bold</vt:lpstr>
      <vt:lpstr>wujiaochang_cover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张文华</cp:lastModifiedBy>
  <cp:revision>2</cp:revision>
  <dcterms:created xsi:type="dcterms:W3CDTF">2026-10-12T12:08:00Z</dcterms:created>
  <dcterms:modified xsi:type="dcterms:W3CDTF">2026-10-12T16:19:48Z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224418AA8FC94DD8B6DA283324263189_12</vt:lpwstr>
  </property>
</Properties>
</file>